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56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450669-5830-1B49-9F3F-8A232EFB6AF9}" v="1" dt="2026-04-16T18:26:49.2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82800"/>
  </p:normalViewPr>
  <p:slideViewPr>
    <p:cSldViewPr snapToGrid="0" snapToObjects="1">
      <p:cViewPr varScale="1">
        <p:scale>
          <a:sx n="143" d="100"/>
          <a:sy n="143" d="100"/>
        </p:scale>
        <p:origin x="7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0210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Hi everyone, we're Team 4. Today we're presenting a skincare irritation prediction system — built on machine learning and NLP, trained on over a million real Sephora reviews. The headline: our best model hit a ROC-AUC of 0.9917. We benchmarked six classifiers, ran full SHAP analysis to understand why predictions happen, and wrapped it all into an interactive recommendation dashboard.</a:t>
            </a:r>
          </a:p>
          <a:p>
            <a:endParaRPr lang="en-US" sz="2000" dirty="0"/>
          </a:p>
          <a:p>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Here's the core problem: Today when we have so many, almost too many choices in all kinds of skincare products, Consumers have no data-driven way to evaluate whether a product will irritate their skin. They rely on scattered reviews and marketing claims.</a:t>
            </a:r>
          </a:p>
          <a:p>
            <a:r>
              <a:rPr lang="en-US" sz="1200" kern="1200" dirty="0">
                <a:solidFill>
                  <a:schemeClr val="tx1"/>
                </a:solidFill>
                <a:effectLst/>
                <a:latin typeface="+mn-lt"/>
                <a:ea typeface="+mn-ea"/>
                <a:cs typeface="+mn-cs"/>
              </a:rPr>
              <a:t>We built around three questions. One — can ingredient composition alone predict irritation? Two — can review text detect safety signals at scale? Words like "this burned my face" or "I had to switch products." which are present in product reviews. And three — which specific ingredients, or combinations of ingredients, are actually the worst offenders? The answers matter across the board: brands want fewer returns, retailers want smarter recommendations, consumers want safer choices, and regulators want transparency.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pulled from three sources. 1.09 million Sephora reviews — with ratings, skin type, and text. Product metadata for roughly 8,000 products with full ingredient lists. And the INCI reference list for standardized hazard flagging.</a:t>
            </a:r>
          </a:p>
          <a:p>
            <a:r>
              <a:rPr lang="en-US" dirty="0"/>
              <a:t>The data wasn't clean. Ingredient columns mixed marketing copy with actual ingredients. Reviews have no standard vocabulary — "broke me out" and "caused a rash" mean the same thing, but a model doesn't know that. Skin type is self-reported, so there's real noise there. And critically, only 12% of reviews mention irritation — a 7.3-to-1 class imbalance that required deliberate handling.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Our features came from three places.</a:t>
            </a:r>
          </a:p>
          <a:p>
            <a:r>
              <a:rPr lang="en-US" sz="1200" kern="1200" dirty="0">
                <a:solidFill>
                  <a:schemeClr val="tx1"/>
                </a:solidFill>
                <a:effectLst/>
                <a:latin typeface="+mn-lt"/>
                <a:ea typeface="+mn-ea"/>
                <a:cs typeface="+mn-cs"/>
              </a:rPr>
              <a:t>First, ingredient flags. We tagged 10 known allergens — fragrance, alcohol, parabens, sulfates — and added 8 combination features, because some ingredients are more irritating together than alone.</a:t>
            </a:r>
          </a:p>
          <a:p>
            <a:r>
              <a:rPr lang="en-US" sz="1200" kern="1200" dirty="0">
                <a:solidFill>
                  <a:schemeClr val="tx1"/>
                </a:solidFill>
                <a:effectLst/>
                <a:latin typeface="+mn-lt"/>
                <a:ea typeface="+mn-ea"/>
                <a:cs typeface="+mn-cs"/>
              </a:rPr>
              <a:t>Second, risk scores. Rather than just counting allergens, we weighted them by severity and rolled that into a single toxicity score per product.</a:t>
            </a:r>
          </a:p>
          <a:p>
            <a:r>
              <a:rPr lang="en-US" sz="1200" kern="1200" dirty="0">
                <a:solidFill>
                  <a:schemeClr val="tx1"/>
                </a:solidFill>
                <a:effectLst/>
                <a:latin typeface="+mn-lt"/>
                <a:ea typeface="+mn-ea"/>
                <a:cs typeface="+mn-cs"/>
              </a:rPr>
              <a:t>Third, review text. We used TF-IDF to identify which words and phrases show up more in irritation reviews, plus sentiment scoring to capture how negative a review actually sounds.</a:t>
            </a:r>
          </a:p>
          <a:p>
            <a:r>
              <a:rPr lang="en-US" sz="1200" kern="1200" dirty="0">
                <a:solidFill>
                  <a:schemeClr val="tx1"/>
                </a:solidFill>
                <a:effectLst/>
                <a:latin typeface="+mn-lt"/>
                <a:ea typeface="+mn-ea"/>
                <a:cs typeface="+mn-cs"/>
              </a:rPr>
              <a:t>The target was a simple yes/no irritation flag  For class balancing, we equalized the training set to 107,000 samples per class — same accuracy as fancier methods, four times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Looking at our 1.09 million reviews, the first thing we noticed is the class imbalance where 87.8% contributed to no irritation whereas 12.2% were flagged. That's a 7.3-to-1 ratio, which means a naive model that always predicts 'no irritation' is still 88% accurate. That's exactly why we can't rely on accuracy alone so we chose F1 and AUC-ROC as our metric.</a:t>
            </a:r>
          </a:p>
          <a:p>
            <a:r>
              <a:rPr lang="en-US" sz="1200" kern="1200" dirty="0">
                <a:solidFill>
                  <a:schemeClr val="tx1"/>
                </a:solidFill>
                <a:effectLst/>
                <a:latin typeface="+mn-lt"/>
                <a:ea typeface="+mn-ea"/>
                <a:cs typeface="+mn-cs"/>
              </a:rPr>
              <a:t>We also found that products WITHOUT fragrance had higher irritation rates of around 13.5% versus 9.5%. Ingredient flags alone do not capture the entire picture.</a:t>
            </a:r>
          </a:p>
          <a:p>
            <a:r>
              <a:rPr lang="en-US" sz="1200" kern="1200" dirty="0">
                <a:solidFill>
                  <a:schemeClr val="tx1"/>
                </a:solidFill>
                <a:effectLst/>
                <a:latin typeface="+mn-lt"/>
                <a:ea typeface="+mn-ea"/>
                <a:cs typeface="+mn-cs"/>
              </a:rPr>
              <a:t>Even after engineering allergen flags, interaction terms, and toxicity scores, AUC flattened at 0.76. Better than random, but not nearly good enough — and that's why we used NLP."</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Considering the structural features alone: AUC is 0.76, and F1 is 0.33 — the model was identifying irritation but there were a lot of false positives. On adding TF-IDF, AUC rises to 0.99, F1 to 0.97, Recall to 0.96. A 30% AUC gain and 194% F1.</a:t>
            </a:r>
          </a:p>
          <a:p>
            <a:r>
              <a:rPr lang="en-US" sz="1200" kern="1200" dirty="0">
                <a:solidFill>
                  <a:schemeClr val="tx1"/>
                </a:solidFill>
                <a:effectLst/>
                <a:latin typeface="+mn-lt"/>
                <a:ea typeface="+mn-ea"/>
                <a:cs typeface="+mn-cs"/>
              </a:rPr>
              <a:t>The bottom left chart shows the top 20 features predicting irritation and these are the words that the consumers use like "Breakouts" and "redness" have by far the highest positive coefficients, followed by "irritation," "burn," "itchy," and "rash." We also noticed that “switch,” “switched,” and “switching” also appear. People who experience irritation talk about switching products, and the model learned that behavioral signal on its own. It was not in our original keyword list.</a:t>
            </a:r>
          </a:p>
          <a:p>
            <a:r>
              <a:rPr lang="en-US" sz="1200" kern="1200" dirty="0">
                <a:solidFill>
                  <a:schemeClr val="tx1"/>
                </a:solidFill>
                <a:effectLst/>
                <a:latin typeface="+mn-lt"/>
                <a:ea typeface="+mn-ea"/>
                <a:cs typeface="+mn-cs"/>
              </a:rPr>
              <a:t>In green on the right, skin type disclosure variables dominate the no-irritation side, followed by positive sentiment. Users who share their skin type and express satisfaction are less likely to report irritation.</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Six models on the held-out test set of 218,000 reviews, all above 0.985 AUC. Logistic Regression and </a:t>
            </a:r>
            <a:r>
              <a:rPr lang="en-US" sz="1200" kern="1200" dirty="0" err="1">
                <a:solidFill>
                  <a:schemeClr val="tx1"/>
                </a:solidFill>
                <a:effectLst/>
                <a:latin typeface="+mn-lt"/>
                <a:ea typeface="+mn-ea"/>
                <a:cs typeface="+mn-cs"/>
              </a:rPr>
              <a:t>XGBoost</a:t>
            </a:r>
            <a:r>
              <a:rPr lang="en-US" sz="1200" kern="1200" dirty="0">
                <a:solidFill>
                  <a:schemeClr val="tx1"/>
                </a:solidFill>
                <a:effectLst/>
                <a:latin typeface="+mn-lt"/>
                <a:ea typeface="+mn-ea"/>
                <a:cs typeface="+mn-cs"/>
              </a:rPr>
              <a:t> are essentially tied for best AUC at 0.9917 and 0.9916. Random Forest catches the most irritation cases with 97% recall but has more false positives. Gradient Boosting achieves near-perfect precision at 99.99%. The choice depends on the use case: LR for interpretability, Random Forest for maximum recall, </a:t>
            </a:r>
            <a:r>
              <a:rPr lang="en-US" sz="1200" kern="1200" dirty="0" err="1">
                <a:solidFill>
                  <a:schemeClr val="tx1"/>
                </a:solidFill>
                <a:effectLst/>
                <a:latin typeface="+mn-lt"/>
                <a:ea typeface="+mn-ea"/>
                <a:cs typeface="+mn-cs"/>
              </a:rPr>
              <a:t>XGBoost</a:t>
            </a:r>
            <a:r>
              <a:rPr lang="en-US" sz="1200" kern="1200" dirty="0">
                <a:solidFill>
                  <a:schemeClr val="tx1"/>
                </a:solidFill>
                <a:effectLst/>
                <a:latin typeface="+mn-lt"/>
                <a:ea typeface="+mn-ea"/>
                <a:cs typeface="+mn-cs"/>
              </a:rPr>
              <a:t> or Gradient Boosting for best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Thanks. Numbers this high naturally raise a question — are they too good to be true? So we stress-tested them with 5-fold cross-validation, making sure the model never saw test data during training.</a:t>
            </a:r>
          </a:p>
          <a:p>
            <a:r>
              <a:rPr lang="en-US" sz="1200" b="0" i="0" kern="1200" dirty="0">
                <a:solidFill>
                  <a:schemeClr val="tx1"/>
                </a:solidFill>
                <a:effectLst/>
                <a:latin typeface="+mn-lt"/>
                <a:ea typeface="+mn-ea"/>
                <a:cs typeface="+mn-cs"/>
              </a:rPr>
              <a:t>The results held up. Logistic Regression came in at 0.98, within a hair of the held-out result. </a:t>
            </a:r>
            <a:r>
              <a:rPr lang="en-US" sz="1200" b="0" i="0" kern="1200" dirty="0" err="1">
                <a:solidFill>
                  <a:schemeClr val="tx1"/>
                </a:solidFill>
                <a:effectLst/>
                <a:latin typeface="+mn-lt"/>
                <a:ea typeface="+mn-ea"/>
                <a:cs typeface="+mn-cs"/>
              </a:rPr>
              <a:t>LightGBM</a:t>
            </a:r>
            <a:r>
              <a:rPr lang="en-US" sz="1200" b="0" i="0" kern="1200" dirty="0">
                <a:solidFill>
                  <a:schemeClr val="tx1"/>
                </a:solidFill>
                <a:effectLst/>
                <a:latin typeface="+mn-lt"/>
                <a:ea typeface="+mn-ea"/>
                <a:cs typeface="+mn-cs"/>
              </a:rPr>
              <a:t> had the highest F1 at 0.97. And those error bars in the charts? Barely visible. Every model was stable across folds. These aren't lucky numbers.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SHAP helps us open the black box — it shows </a:t>
            </a:r>
            <a:r>
              <a:rPr lang="en-US" sz="1200" b="0" i="1" kern="1200" dirty="0">
                <a:solidFill>
                  <a:schemeClr val="tx1"/>
                </a:solidFill>
                <a:effectLst/>
                <a:latin typeface="+mn-lt"/>
                <a:ea typeface="+mn-ea"/>
                <a:cs typeface="+mn-cs"/>
              </a:rPr>
              <a:t>why</a:t>
            </a:r>
            <a:r>
              <a:rPr lang="en-US" sz="1200" b="0" i="0" kern="1200" dirty="0">
                <a:solidFill>
                  <a:schemeClr val="tx1"/>
                </a:solidFill>
                <a:effectLst/>
                <a:latin typeface="+mn-lt"/>
                <a:ea typeface="+mn-ea"/>
                <a:cs typeface="+mn-cs"/>
              </a:rPr>
              <a:t> the model makes each prediction, not just what it predicts.</a:t>
            </a:r>
          </a:p>
          <a:p>
            <a:r>
              <a:rPr lang="en-US" sz="1200" b="0" i="0" kern="1200" dirty="0">
                <a:solidFill>
                  <a:schemeClr val="tx1"/>
                </a:solidFill>
                <a:effectLst/>
                <a:latin typeface="+mn-lt"/>
                <a:ea typeface="+mn-ea"/>
                <a:cs typeface="+mn-cs"/>
              </a:rPr>
              <a:t>The key finding is that ingredient features and review text contribute roughly equally. Neither one carries the model alone — they work together.</a:t>
            </a:r>
          </a:p>
          <a:p>
            <a:r>
              <a:rPr lang="en-US" sz="1200" b="0" i="0" kern="1200" dirty="0">
                <a:solidFill>
                  <a:schemeClr val="tx1"/>
                </a:solidFill>
                <a:effectLst/>
                <a:latin typeface="+mn-lt"/>
                <a:ea typeface="+mn-ea"/>
                <a:cs typeface="+mn-cs"/>
              </a:rPr>
              <a:t>Looking at the top features: skin type combination leads, followed closely by words like "breakouts" and "redness." For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product-switching language emerges as a strong signal — again, something the model learned entirely on its own. And for </a:t>
            </a:r>
            <a:r>
              <a:rPr lang="en-US" sz="1200" b="0" i="0" kern="1200" dirty="0" err="1">
                <a:solidFill>
                  <a:schemeClr val="tx1"/>
                </a:solidFill>
                <a:effectLst/>
                <a:latin typeface="+mn-lt"/>
                <a:ea typeface="+mn-ea"/>
                <a:cs typeface="+mn-cs"/>
              </a:rPr>
              <a:t>LightGBM</a:t>
            </a:r>
            <a:r>
              <a:rPr lang="en-US" sz="1200" b="0" i="0" kern="1200" dirty="0">
                <a:solidFill>
                  <a:schemeClr val="tx1"/>
                </a:solidFill>
                <a:effectLst/>
                <a:latin typeface="+mn-lt"/>
                <a:ea typeface="+mn-ea"/>
                <a:cs typeface="+mn-cs"/>
              </a:rPr>
              <a:t>, words like "sensitive" can push predictions in either direction depending on context.</a:t>
            </a:r>
          </a:p>
          <a:p>
            <a:r>
              <a:rPr lang="en-US" sz="1200" b="0" i="0" kern="1200" dirty="0">
                <a:solidFill>
                  <a:schemeClr val="tx1"/>
                </a:solidFill>
                <a:effectLst/>
                <a:latin typeface="+mn-lt"/>
                <a:ea typeface="+mn-ea"/>
                <a:cs typeface="+mn-cs"/>
              </a:rPr>
              <a:t>Over to </a:t>
            </a:r>
            <a:r>
              <a:rPr lang="en-US" sz="1200" b="0" i="0" kern="1200" dirty="0" err="1">
                <a:solidFill>
                  <a:schemeClr val="tx1"/>
                </a:solidFill>
                <a:effectLst/>
                <a:latin typeface="+mn-lt"/>
                <a:ea typeface="+mn-ea"/>
                <a:cs typeface="+mn-cs"/>
              </a:rPr>
              <a:t>Harshmeet</a:t>
            </a:r>
            <a:r>
              <a:rPr lang="en-US" sz="1200" b="0" i="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Thanks. The </a:t>
            </a:r>
            <a:r>
              <a:rPr lang="en-US" sz="1200" kern="1200" dirty="0" err="1">
                <a:solidFill>
                  <a:schemeClr val="tx1"/>
                </a:solidFill>
                <a:effectLst/>
                <a:latin typeface="+mn-lt"/>
                <a:ea typeface="+mn-ea"/>
                <a:cs typeface="+mn-cs"/>
              </a:rPr>
              <a:t>Streamlit</a:t>
            </a:r>
            <a:r>
              <a:rPr lang="en-US" sz="1200" kern="1200" dirty="0">
                <a:solidFill>
                  <a:schemeClr val="tx1"/>
                </a:solidFill>
                <a:effectLst/>
                <a:latin typeface="+mn-lt"/>
                <a:ea typeface="+mn-ea"/>
                <a:cs typeface="+mn-cs"/>
              </a:rPr>
              <a:t> dashboard makes our model accessible to non-technical users. You select your skin type and all scores recalculate. You can filter by concerns like acne or sensitivity, search for desired ingredients, and exclude allergen families.</a:t>
            </a:r>
          </a:p>
          <a:p>
            <a:r>
              <a:rPr lang="en-US" sz="1200" kern="1200" dirty="0">
                <a:solidFill>
                  <a:schemeClr val="tx1"/>
                </a:solidFill>
                <a:effectLst/>
                <a:latin typeface="+mn-lt"/>
                <a:ea typeface="+mn-ea"/>
                <a:cs typeface="+mn-cs"/>
              </a:rPr>
              <a:t>The suitability score combines three things: 40% weight on safety from irritation rate, 30% on quality from ratings, and 30% on endorsement from recommendation rate. All computed per skin type. 85 and above is Excellent, down to below 55 for Low. Let’s go to the dashboard.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Tying it back. Question one: ingredients alone reached 0.76 AUC, not enough by themselves. But combined with text, SHAP shows they contribute equally. Toxicity scores, allergen counts, and interaction flags all appear in SHAP rankings.</a:t>
            </a:r>
          </a:p>
          <a:p>
            <a:r>
              <a:rPr lang="en-US" sz="1200" kern="1200" dirty="0">
                <a:solidFill>
                  <a:schemeClr val="tx1"/>
                </a:solidFill>
                <a:effectLst/>
                <a:latin typeface="+mn-lt"/>
                <a:ea typeface="+mn-ea"/>
                <a:cs typeface="+mn-cs"/>
              </a:rPr>
              <a:t>Question two: review text decisively detects safety signals. TF-IDF drove AUC from 0.76 to 0.9917. In deployment, you could monitor reviews in near-real-time and flag products automatically.</a:t>
            </a:r>
          </a:p>
          <a:p>
            <a:r>
              <a:rPr lang="en-US" sz="1200" kern="1200" dirty="0">
                <a:solidFill>
                  <a:schemeClr val="tx1"/>
                </a:solidFill>
                <a:effectLst/>
                <a:latin typeface="+mn-lt"/>
                <a:ea typeface="+mn-ea"/>
                <a:cs typeface="+mn-cs"/>
              </a:rPr>
              <a:t>Question three: formaldehyde releasers, phthalates, fragrances, and sulfates are highest risk. Fragrance-alcohol and alcohol-retinol are top co-irritant pairs, consistent with known dermatological mechanisms.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Five takeaways. Review text is the strongest single predictor — it's what took us from 0.76 to 0.9917. But SHAP shows ingredient features pull equal weight once you add them together. The highest-risk ingredients are formaldehyde releasers, phthalates, fragrances, and sulfates — with fragrance-alcohol and alcohol-retinol as the most dangerous combinations. All six models are stable and cross-validated. And the dashboard makes this accessible to anyone, not just analysts.</a:t>
            </a:r>
          </a:p>
          <a:p>
            <a:r>
              <a:rPr lang="en-US" sz="1200" b="0" i="0" kern="1200" dirty="0">
                <a:solidFill>
                  <a:schemeClr val="tx1"/>
                </a:solidFill>
                <a:effectLst/>
                <a:latin typeface="+mn-lt"/>
                <a:ea typeface="+mn-ea"/>
                <a:cs typeface="+mn-cs"/>
              </a:rPr>
              <a:t>A few honest limitations: our irritation labels come from keywords, not clinical diagnosis. INCI matching isn't perfect. And there's room to go further with more advanced language models.</a:t>
            </a:r>
          </a:p>
          <a:p>
            <a:r>
              <a:rPr lang="en-US" sz="1200" b="0" i="0" kern="1200" dirty="0">
                <a:solidFill>
                  <a:schemeClr val="tx1"/>
                </a:solidFill>
                <a:effectLst/>
                <a:latin typeface="+mn-lt"/>
                <a:ea typeface="+mn-ea"/>
                <a:cs typeface="+mn-cs"/>
              </a:rPr>
              <a:t>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skincare-dashboard-3c6tommtjcvbvuzttl4cjx.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5669280" y="0"/>
            <a:ext cx="3474720" cy="5143500"/>
          </a:xfrm>
          <a:prstGeom prst="rect">
            <a:avLst/>
          </a:prstGeom>
          <a:solidFill>
            <a:srgbClr val="2D4A3E"/>
          </a:solidFill>
          <a:ln/>
        </p:spPr>
        <p:txBody>
          <a:bodyPr/>
          <a:lstStyle/>
          <a:p>
            <a:endParaRPr lang="en-US"/>
          </a:p>
        </p:txBody>
      </p:sp>
      <p:sp>
        <p:nvSpPr>
          <p:cNvPr id="3" name="Text 1"/>
          <p:cNvSpPr/>
          <p:nvPr/>
        </p:nvSpPr>
        <p:spPr>
          <a:xfrm>
            <a:off x="5989320" y="502920"/>
            <a:ext cx="2743200" cy="457200"/>
          </a:xfrm>
          <a:prstGeom prst="rect">
            <a:avLst/>
          </a:prstGeom>
          <a:noFill/>
          <a:ln/>
        </p:spPr>
        <p:txBody>
          <a:bodyPr wrap="square" lIns="0" tIns="0" rIns="0" bIns="0" rtlCol="0" anchor="ctr"/>
          <a:lstStyle/>
          <a:p>
            <a:pPr marL="0" indent="0">
              <a:buNone/>
            </a:pPr>
            <a:r>
              <a:rPr lang="en-US" sz="2400" b="1" dirty="0">
                <a:solidFill>
                  <a:srgbClr val="F7F3ED"/>
                </a:solidFill>
                <a:latin typeface="Georgia" pitchFamily="34" charset="0"/>
                <a:ea typeface="Georgia" pitchFamily="34" charset="-122"/>
                <a:cs typeface="Georgia" pitchFamily="34" charset="-120"/>
              </a:rPr>
              <a:t>0.9917</a:t>
            </a:r>
            <a:endParaRPr lang="en-US" sz="2400" dirty="0"/>
          </a:p>
        </p:txBody>
      </p:sp>
      <p:sp>
        <p:nvSpPr>
          <p:cNvPr id="4" name="Text 2"/>
          <p:cNvSpPr/>
          <p:nvPr/>
        </p:nvSpPr>
        <p:spPr>
          <a:xfrm>
            <a:off x="5989320" y="914400"/>
            <a:ext cx="2743200" cy="22860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ROC-AUC</a:t>
            </a:r>
            <a:endParaRPr lang="en-US" sz="1100" dirty="0"/>
          </a:p>
        </p:txBody>
      </p:sp>
      <p:sp>
        <p:nvSpPr>
          <p:cNvPr id="5" name="Text 3"/>
          <p:cNvSpPr/>
          <p:nvPr/>
        </p:nvSpPr>
        <p:spPr>
          <a:xfrm>
            <a:off x="5989320" y="1600200"/>
            <a:ext cx="2743200" cy="457200"/>
          </a:xfrm>
          <a:prstGeom prst="rect">
            <a:avLst/>
          </a:prstGeom>
          <a:noFill/>
          <a:ln/>
        </p:spPr>
        <p:txBody>
          <a:bodyPr wrap="square" lIns="0" tIns="0" rIns="0" bIns="0" rtlCol="0" anchor="ctr"/>
          <a:lstStyle/>
          <a:p>
            <a:pPr marL="0" indent="0">
              <a:buNone/>
            </a:pPr>
            <a:r>
              <a:rPr lang="en-US" sz="2400" b="1" dirty="0">
                <a:solidFill>
                  <a:srgbClr val="F7F3ED"/>
                </a:solidFill>
                <a:latin typeface="Georgia" pitchFamily="34" charset="0"/>
                <a:ea typeface="Georgia" pitchFamily="34" charset="-122"/>
                <a:cs typeface="Georgia" pitchFamily="34" charset="-120"/>
              </a:rPr>
              <a:t>96.8%</a:t>
            </a:r>
            <a:endParaRPr lang="en-US" sz="2400" dirty="0"/>
          </a:p>
        </p:txBody>
      </p:sp>
      <p:sp>
        <p:nvSpPr>
          <p:cNvPr id="6" name="Text 4"/>
          <p:cNvSpPr/>
          <p:nvPr/>
        </p:nvSpPr>
        <p:spPr>
          <a:xfrm>
            <a:off x="5989320" y="2011680"/>
            <a:ext cx="2743200" cy="22860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F1 Score (irritation)</a:t>
            </a:r>
            <a:endParaRPr lang="en-US" sz="1100" dirty="0"/>
          </a:p>
        </p:txBody>
      </p:sp>
      <p:sp>
        <p:nvSpPr>
          <p:cNvPr id="7" name="Text 5"/>
          <p:cNvSpPr/>
          <p:nvPr/>
        </p:nvSpPr>
        <p:spPr>
          <a:xfrm>
            <a:off x="5989320" y="2697480"/>
            <a:ext cx="2743200" cy="457200"/>
          </a:xfrm>
          <a:prstGeom prst="rect">
            <a:avLst/>
          </a:prstGeom>
          <a:noFill/>
          <a:ln/>
        </p:spPr>
        <p:txBody>
          <a:bodyPr wrap="square" lIns="0" tIns="0" rIns="0" bIns="0" rtlCol="0" anchor="ctr"/>
          <a:lstStyle/>
          <a:p>
            <a:pPr marL="0" indent="0">
              <a:buNone/>
            </a:pPr>
            <a:r>
              <a:rPr lang="en-US" sz="2400" b="1" dirty="0">
                <a:solidFill>
                  <a:srgbClr val="F7F3ED"/>
                </a:solidFill>
                <a:latin typeface="Georgia" pitchFamily="34" charset="0"/>
                <a:ea typeface="Georgia" pitchFamily="34" charset="-122"/>
                <a:cs typeface="Georgia" pitchFamily="34" charset="-120"/>
              </a:rPr>
              <a:t>6 Models</a:t>
            </a:r>
            <a:endParaRPr lang="en-US" sz="2400" dirty="0"/>
          </a:p>
        </p:txBody>
      </p:sp>
      <p:sp>
        <p:nvSpPr>
          <p:cNvPr id="8" name="Text 6"/>
          <p:cNvSpPr/>
          <p:nvPr/>
        </p:nvSpPr>
        <p:spPr>
          <a:xfrm>
            <a:off x="5989320" y="3108960"/>
            <a:ext cx="2743200" cy="22860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Compared + SHAP</a:t>
            </a:r>
            <a:endParaRPr lang="en-US" sz="1100" dirty="0"/>
          </a:p>
        </p:txBody>
      </p:sp>
      <p:sp>
        <p:nvSpPr>
          <p:cNvPr id="9" name="Text 7"/>
          <p:cNvSpPr/>
          <p:nvPr/>
        </p:nvSpPr>
        <p:spPr>
          <a:xfrm>
            <a:off x="5989320" y="3794760"/>
            <a:ext cx="2743200" cy="457200"/>
          </a:xfrm>
          <a:prstGeom prst="rect">
            <a:avLst/>
          </a:prstGeom>
          <a:noFill/>
          <a:ln/>
        </p:spPr>
        <p:txBody>
          <a:bodyPr wrap="square" lIns="0" tIns="0" rIns="0" bIns="0" rtlCol="0" anchor="ctr"/>
          <a:lstStyle/>
          <a:p>
            <a:pPr marL="0" indent="0">
              <a:buNone/>
            </a:pPr>
            <a:r>
              <a:rPr lang="en-US" sz="2400" b="1" dirty="0">
                <a:solidFill>
                  <a:srgbClr val="F7F3ED"/>
                </a:solidFill>
                <a:latin typeface="Georgia" pitchFamily="34" charset="0"/>
                <a:ea typeface="Georgia" pitchFamily="34" charset="-122"/>
                <a:cs typeface="Georgia" pitchFamily="34" charset="-120"/>
              </a:rPr>
              <a:t>1.09M+</a:t>
            </a:r>
            <a:endParaRPr lang="en-US" sz="2400" dirty="0"/>
          </a:p>
        </p:txBody>
      </p:sp>
      <p:sp>
        <p:nvSpPr>
          <p:cNvPr id="10" name="Text 8"/>
          <p:cNvSpPr/>
          <p:nvPr/>
        </p:nvSpPr>
        <p:spPr>
          <a:xfrm>
            <a:off x="5989320" y="4206240"/>
            <a:ext cx="2743200" cy="22860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Reviews analyzed</a:t>
            </a:r>
            <a:endParaRPr lang="en-US" sz="1100" dirty="0"/>
          </a:p>
        </p:txBody>
      </p:sp>
      <p:pic>
        <p:nvPicPr>
          <p:cNvPr id="11" name="Image 0" descr="preencoded.png"/>
          <p:cNvPicPr>
            <a:picLocks noChangeAspect="1"/>
          </p:cNvPicPr>
          <p:nvPr/>
        </p:nvPicPr>
        <p:blipFill>
          <a:blip r:embed="rId3"/>
          <a:stretch>
            <a:fillRect/>
          </a:stretch>
        </p:blipFill>
        <p:spPr>
          <a:xfrm>
            <a:off x="640080" y="457200"/>
            <a:ext cx="384048" cy="384048"/>
          </a:xfrm>
          <a:prstGeom prst="rect">
            <a:avLst/>
          </a:prstGeom>
        </p:spPr>
      </p:pic>
      <p:sp>
        <p:nvSpPr>
          <p:cNvPr id="12" name="Text 9"/>
          <p:cNvSpPr/>
          <p:nvPr/>
        </p:nvSpPr>
        <p:spPr>
          <a:xfrm>
            <a:off x="640080" y="960120"/>
            <a:ext cx="4572000" cy="228600"/>
          </a:xfrm>
          <a:prstGeom prst="rect">
            <a:avLst/>
          </a:prstGeom>
          <a:noFill/>
          <a:ln/>
        </p:spPr>
        <p:txBody>
          <a:bodyPr wrap="square" lIns="0" tIns="0" rIns="0" bIns="0" rtlCol="0" anchor="ctr"/>
          <a:lstStyle/>
          <a:p>
            <a:pPr marL="0" indent="0">
              <a:buNone/>
            </a:pPr>
            <a:r>
              <a:rPr lang="en-US" sz="900" kern="0" spc="150" dirty="0">
                <a:solidFill>
                  <a:srgbClr val="7A8A80"/>
                </a:solidFill>
                <a:latin typeface="Calibri" pitchFamily="34" charset="0"/>
                <a:ea typeface="Calibri" pitchFamily="34" charset="-122"/>
                <a:cs typeface="Calibri" pitchFamily="34" charset="-120"/>
              </a:rPr>
              <a:t>MISM 6212  ·  Data Mining &amp; Machine Learning  ·  April 2026</a:t>
            </a:r>
            <a:endParaRPr lang="en-US" sz="900" dirty="0"/>
          </a:p>
        </p:txBody>
      </p:sp>
      <p:sp>
        <p:nvSpPr>
          <p:cNvPr id="13" name="Text 10"/>
          <p:cNvSpPr/>
          <p:nvPr/>
        </p:nvSpPr>
        <p:spPr>
          <a:xfrm>
            <a:off x="640080" y="1280160"/>
            <a:ext cx="4754880" cy="2286000"/>
          </a:xfrm>
          <a:prstGeom prst="rect">
            <a:avLst/>
          </a:prstGeom>
          <a:noFill/>
          <a:ln/>
        </p:spPr>
        <p:txBody>
          <a:bodyPr wrap="square" lIns="0" tIns="0" rIns="0" bIns="0" rtlCol="0" anchor="ctr"/>
          <a:lstStyle/>
          <a:p>
            <a:pPr marL="0" indent="0">
              <a:lnSpc>
                <a:spcPct val="105000"/>
              </a:lnSpc>
              <a:buNone/>
            </a:pPr>
            <a:r>
              <a:rPr lang="en-US" sz="3600" dirty="0">
                <a:solidFill>
                  <a:srgbClr val="F7F3ED"/>
                </a:solidFill>
                <a:latin typeface="Georgia" pitchFamily="34" charset="0"/>
                <a:ea typeface="Georgia" pitchFamily="34" charset="-122"/>
                <a:cs typeface="Georgia" pitchFamily="34" charset="-120"/>
              </a:rPr>
              <a:t>Skincare Product</a:t>
            </a:r>
            <a:endParaRPr lang="en-US" sz="3600" dirty="0"/>
          </a:p>
          <a:p>
            <a:pPr marL="0" indent="0">
              <a:lnSpc>
                <a:spcPct val="105000"/>
              </a:lnSpc>
              <a:buNone/>
            </a:pPr>
            <a:r>
              <a:rPr lang="en-US" sz="3600" dirty="0">
                <a:solidFill>
                  <a:srgbClr val="F7F3ED"/>
                </a:solidFill>
                <a:latin typeface="Georgia" pitchFamily="34" charset="0"/>
                <a:ea typeface="Georgia" pitchFamily="34" charset="-122"/>
                <a:cs typeface="Georgia" pitchFamily="34" charset="-120"/>
              </a:rPr>
              <a:t>Safety Prediction</a:t>
            </a:r>
            <a:endParaRPr lang="en-US" sz="3600" dirty="0"/>
          </a:p>
          <a:p>
            <a:pPr marL="0" indent="0">
              <a:lnSpc>
                <a:spcPct val="105000"/>
              </a:lnSpc>
              <a:buNone/>
            </a:pPr>
            <a:r>
              <a:rPr lang="en-US" sz="3600" dirty="0">
                <a:solidFill>
                  <a:srgbClr val="F7F3ED"/>
                </a:solidFill>
                <a:latin typeface="Georgia" pitchFamily="34" charset="0"/>
                <a:ea typeface="Georgia" pitchFamily="34" charset="-122"/>
                <a:cs typeface="Georgia" pitchFamily="34" charset="-120"/>
              </a:rPr>
              <a:t>&amp; Recommendation</a:t>
            </a:r>
            <a:endParaRPr lang="en-US" sz="3600" dirty="0"/>
          </a:p>
          <a:p>
            <a:pPr marL="0" indent="0">
              <a:lnSpc>
                <a:spcPct val="105000"/>
              </a:lnSpc>
              <a:buNone/>
            </a:pPr>
            <a:r>
              <a:rPr lang="en-US" sz="3600" dirty="0">
                <a:solidFill>
                  <a:srgbClr val="F7F3ED"/>
                </a:solidFill>
                <a:latin typeface="Georgia" pitchFamily="34" charset="0"/>
                <a:ea typeface="Georgia" pitchFamily="34" charset="-122"/>
                <a:cs typeface="Georgia" pitchFamily="34" charset="-120"/>
              </a:rPr>
              <a:t>Engine</a:t>
            </a:r>
            <a:endParaRPr lang="en-US" sz="3600" dirty="0"/>
          </a:p>
        </p:txBody>
      </p:sp>
      <p:sp>
        <p:nvSpPr>
          <p:cNvPr id="14" name="Shape 11"/>
          <p:cNvSpPr/>
          <p:nvPr/>
        </p:nvSpPr>
        <p:spPr>
          <a:xfrm>
            <a:off x="640080" y="3611880"/>
            <a:ext cx="548640" cy="36576"/>
          </a:xfrm>
          <a:prstGeom prst="rect">
            <a:avLst/>
          </a:prstGeom>
          <a:solidFill>
            <a:srgbClr val="C2703E"/>
          </a:solidFill>
          <a:ln/>
        </p:spPr>
        <p:txBody>
          <a:bodyPr/>
          <a:lstStyle/>
          <a:p>
            <a:endParaRPr lang="en-US"/>
          </a:p>
        </p:txBody>
      </p:sp>
      <p:sp>
        <p:nvSpPr>
          <p:cNvPr id="15" name="Text 12"/>
          <p:cNvSpPr/>
          <p:nvPr/>
        </p:nvSpPr>
        <p:spPr>
          <a:xfrm>
            <a:off x="640080" y="3749040"/>
            <a:ext cx="4572000" cy="274320"/>
          </a:xfrm>
          <a:prstGeom prst="rect">
            <a:avLst/>
          </a:prstGeom>
          <a:noFill/>
          <a:ln/>
        </p:spPr>
        <p:txBody>
          <a:bodyPr wrap="square" lIns="0" tIns="0" rIns="0" bIns="0" rtlCol="0" anchor="ctr"/>
          <a:lstStyle/>
          <a:p>
            <a:pPr marL="0" indent="0">
              <a:buNone/>
            </a:pPr>
            <a:r>
              <a:rPr lang="en-US" sz="1400" dirty="0">
                <a:solidFill>
                  <a:srgbClr val="B8C9BC"/>
                </a:solidFill>
                <a:latin typeface="Calibri" pitchFamily="34" charset="0"/>
                <a:ea typeface="Calibri" pitchFamily="34" charset="-122"/>
                <a:cs typeface="Calibri" pitchFamily="34" charset="-120"/>
              </a:rPr>
              <a:t>Using ML &amp; NLP on Sephora Reviews</a:t>
            </a:r>
            <a:endParaRPr lang="en-US" sz="1400" dirty="0"/>
          </a:p>
        </p:txBody>
      </p:sp>
      <p:sp>
        <p:nvSpPr>
          <p:cNvPr id="16" name="Text 13"/>
          <p:cNvSpPr/>
          <p:nvPr/>
        </p:nvSpPr>
        <p:spPr>
          <a:xfrm>
            <a:off x="640080" y="4343400"/>
            <a:ext cx="4572000" cy="502920"/>
          </a:xfrm>
          <a:prstGeom prst="rect">
            <a:avLst/>
          </a:prstGeom>
          <a:noFill/>
          <a:ln/>
        </p:spPr>
        <p:txBody>
          <a:bodyPr wrap="square" lIns="0" tIns="0" rIns="0" bIns="0" rtlCol="0" anchor="ctr"/>
          <a:lstStyle/>
          <a:p>
            <a:pPr marL="0" indent="0">
              <a:lnSpc>
                <a:spcPct val="150000"/>
              </a:lnSpc>
              <a:buNone/>
            </a:pPr>
            <a:r>
              <a:rPr lang="en-US" sz="1000" dirty="0">
                <a:solidFill>
                  <a:srgbClr val="7A8A80"/>
                </a:solidFill>
                <a:latin typeface="Calibri" pitchFamily="34" charset="0"/>
                <a:ea typeface="Calibri" pitchFamily="34" charset="-122"/>
                <a:cs typeface="Calibri" pitchFamily="34" charset="-120"/>
              </a:rPr>
              <a:t>Harshmeet Kaur  ·  Sai Athale  ·  Shreya Pandey  ·  Sakshi Patil</a:t>
            </a:r>
            <a:endParaRPr lang="en-US" sz="1000" dirty="0"/>
          </a:p>
          <a:p>
            <a:pPr marL="0" indent="0">
              <a:lnSpc>
                <a:spcPct val="150000"/>
              </a:lnSpc>
              <a:buNone/>
            </a:pPr>
            <a:r>
              <a:rPr lang="en-US" sz="1000" dirty="0">
                <a:solidFill>
                  <a:srgbClr val="7A8A80"/>
                </a:solidFill>
                <a:latin typeface="Calibri" pitchFamily="34" charset="0"/>
                <a:ea typeface="Calibri" pitchFamily="34" charset="-122"/>
                <a:cs typeface="Calibri" pitchFamily="34" charset="-120"/>
              </a:rPr>
              <a:t>D'Amore-McKim School of Business, Northeastern University</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D"/>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2D4A3E"/>
          </a:solidFill>
          <a:ln/>
        </p:spPr>
        <p:txBody>
          <a:bodyPr/>
          <a:lstStyle/>
          <a:p>
            <a:endParaRPr lang="en-US"/>
          </a:p>
        </p:txBody>
      </p:sp>
      <p:sp>
        <p:nvSpPr>
          <p:cNvPr id="3" name="Text 1"/>
          <p:cNvSpPr/>
          <p:nvPr/>
        </p:nvSpPr>
        <p:spPr>
          <a:xfrm>
            <a:off x="457200" y="457200"/>
            <a:ext cx="2743200" cy="1005840"/>
          </a:xfrm>
          <a:prstGeom prst="rect">
            <a:avLst/>
          </a:prstGeom>
          <a:noFill/>
          <a:ln/>
        </p:spPr>
        <p:txBody>
          <a:bodyPr wrap="square" lIns="0" tIns="0" rIns="0" bIns="0" rtlCol="0" anchor="ctr"/>
          <a:lstStyle/>
          <a:p>
            <a:pPr marL="0" indent="0">
              <a:buNone/>
            </a:pPr>
            <a:r>
              <a:rPr lang="en-US" sz="3000" dirty="0">
                <a:solidFill>
                  <a:srgbClr val="F7F3ED"/>
                </a:solidFill>
                <a:latin typeface="Georgia" pitchFamily="34" charset="0"/>
                <a:ea typeface="Georgia" pitchFamily="34" charset="-122"/>
                <a:cs typeface="Georgia" pitchFamily="34" charset="-120"/>
              </a:rPr>
              <a:t>The</a:t>
            </a:r>
            <a:endParaRPr lang="en-US" sz="3000" dirty="0"/>
          </a:p>
          <a:p>
            <a:pPr marL="0" indent="0">
              <a:buNone/>
            </a:pPr>
            <a:r>
              <a:rPr lang="en-US" sz="3000" dirty="0">
                <a:solidFill>
                  <a:srgbClr val="F7F3ED"/>
                </a:solidFill>
                <a:latin typeface="Georgia" pitchFamily="34" charset="0"/>
                <a:ea typeface="Georgia" pitchFamily="34" charset="-122"/>
                <a:cs typeface="Georgia" pitchFamily="34" charset="-120"/>
              </a:rPr>
              <a:t>Problem</a:t>
            </a:r>
            <a:endParaRPr lang="en-US" sz="3000" dirty="0"/>
          </a:p>
        </p:txBody>
      </p:sp>
      <p:sp>
        <p:nvSpPr>
          <p:cNvPr id="4" name="Shape 2"/>
          <p:cNvSpPr/>
          <p:nvPr/>
        </p:nvSpPr>
        <p:spPr>
          <a:xfrm>
            <a:off x="457200" y="1554480"/>
            <a:ext cx="457200" cy="36576"/>
          </a:xfrm>
          <a:prstGeom prst="rect">
            <a:avLst/>
          </a:prstGeom>
          <a:solidFill>
            <a:srgbClr val="C2703E"/>
          </a:solidFill>
          <a:ln/>
        </p:spPr>
        <p:txBody>
          <a:bodyPr/>
          <a:lstStyle/>
          <a:p>
            <a:endParaRPr lang="en-US"/>
          </a:p>
        </p:txBody>
      </p:sp>
      <p:sp>
        <p:nvSpPr>
          <p:cNvPr id="5" name="Text 3"/>
          <p:cNvSpPr/>
          <p:nvPr/>
        </p:nvSpPr>
        <p:spPr>
          <a:xfrm>
            <a:off x="457200" y="1737360"/>
            <a:ext cx="2651760" cy="1371600"/>
          </a:xfrm>
          <a:prstGeom prst="rect">
            <a:avLst/>
          </a:prstGeom>
          <a:noFill/>
          <a:ln/>
        </p:spPr>
        <p:txBody>
          <a:bodyPr wrap="square" lIns="0" tIns="0" rIns="0" bIns="0" rtlCol="0" anchor="ctr"/>
          <a:lstStyle/>
          <a:p>
            <a:pPr marL="0" indent="0">
              <a:lnSpc>
                <a:spcPct val="150000"/>
              </a:lnSpc>
              <a:buNone/>
            </a:pPr>
            <a:r>
              <a:rPr lang="en-US" sz="1200" dirty="0">
                <a:solidFill>
                  <a:srgbClr val="B8C9BC"/>
                </a:solidFill>
                <a:latin typeface="Calibri" pitchFamily="34" charset="0"/>
                <a:ea typeface="Calibri" pitchFamily="34" charset="-122"/>
                <a:cs typeface="Calibri" pitchFamily="34" charset="-120"/>
              </a:rPr>
              <a:t>Consumers rely on anecdotal reviews or marketing claims when assessing product safety. There is no scalable, data-driven way to evaluate irritation risk from ingredients or consumer feedback.</a:t>
            </a:r>
            <a:endParaRPr lang="en-US" sz="1200" dirty="0"/>
          </a:p>
        </p:txBody>
      </p:sp>
      <p:sp>
        <p:nvSpPr>
          <p:cNvPr id="6" name="Text 4"/>
          <p:cNvSpPr/>
          <p:nvPr/>
        </p:nvSpPr>
        <p:spPr>
          <a:xfrm>
            <a:off x="457200" y="3337560"/>
            <a:ext cx="2743200" cy="18288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STAKEHOLDERS</a:t>
            </a:r>
            <a:endParaRPr lang="en-US" sz="1000" dirty="0"/>
          </a:p>
        </p:txBody>
      </p:sp>
      <p:sp>
        <p:nvSpPr>
          <p:cNvPr id="7" name="Text 5"/>
          <p:cNvSpPr/>
          <p:nvPr/>
        </p:nvSpPr>
        <p:spPr>
          <a:xfrm>
            <a:off x="457200" y="3566160"/>
            <a:ext cx="2743200" cy="27432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Cosmetic brands</a:t>
            </a:r>
            <a:endParaRPr lang="en-US" sz="1100" dirty="0"/>
          </a:p>
        </p:txBody>
      </p:sp>
      <p:sp>
        <p:nvSpPr>
          <p:cNvPr id="8" name="Text 6"/>
          <p:cNvSpPr/>
          <p:nvPr/>
        </p:nvSpPr>
        <p:spPr>
          <a:xfrm>
            <a:off x="457200" y="3877056"/>
            <a:ext cx="2743200" cy="27432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E-commerce retailers</a:t>
            </a:r>
            <a:endParaRPr lang="en-US" sz="1100" dirty="0"/>
          </a:p>
        </p:txBody>
      </p:sp>
      <p:sp>
        <p:nvSpPr>
          <p:cNvPr id="9" name="Text 7"/>
          <p:cNvSpPr/>
          <p:nvPr/>
        </p:nvSpPr>
        <p:spPr>
          <a:xfrm>
            <a:off x="457200" y="4187952"/>
            <a:ext cx="2743200" cy="27432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Consumers</a:t>
            </a:r>
            <a:endParaRPr lang="en-US" sz="1100" dirty="0"/>
          </a:p>
        </p:txBody>
      </p:sp>
      <p:sp>
        <p:nvSpPr>
          <p:cNvPr id="10" name="Text 8"/>
          <p:cNvSpPr/>
          <p:nvPr/>
        </p:nvSpPr>
        <p:spPr>
          <a:xfrm>
            <a:off x="457200" y="4498848"/>
            <a:ext cx="2743200" cy="27432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Regulatory bodies</a:t>
            </a:r>
            <a:endParaRPr lang="en-US" sz="1100" dirty="0"/>
          </a:p>
        </p:txBody>
      </p:sp>
      <p:sp>
        <p:nvSpPr>
          <p:cNvPr id="11" name="Text 9"/>
          <p:cNvSpPr/>
          <p:nvPr/>
        </p:nvSpPr>
        <p:spPr>
          <a:xfrm>
            <a:off x="3931920" y="457200"/>
            <a:ext cx="4572000" cy="22860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BUSINESS QUESTIONS</a:t>
            </a:r>
            <a:endParaRPr lang="en-US" sz="1000" dirty="0"/>
          </a:p>
        </p:txBody>
      </p:sp>
      <p:sp>
        <p:nvSpPr>
          <p:cNvPr id="12" name="Text 10"/>
          <p:cNvSpPr/>
          <p:nvPr/>
        </p:nvSpPr>
        <p:spPr>
          <a:xfrm>
            <a:off x="3931920" y="914400"/>
            <a:ext cx="548640" cy="411480"/>
          </a:xfrm>
          <a:prstGeom prst="rect">
            <a:avLst/>
          </a:prstGeom>
          <a:noFill/>
          <a:ln/>
        </p:spPr>
        <p:txBody>
          <a:bodyPr wrap="square" lIns="0" tIns="0" rIns="0" bIns="0" rtlCol="0" anchor="ctr"/>
          <a:lstStyle/>
          <a:p>
            <a:pPr marL="0" indent="0">
              <a:buNone/>
            </a:pPr>
            <a:r>
              <a:rPr lang="en-US" sz="2600" dirty="0">
                <a:solidFill>
                  <a:srgbClr val="C2703E"/>
                </a:solidFill>
                <a:latin typeface="Georgia" pitchFamily="34" charset="0"/>
                <a:ea typeface="Georgia" pitchFamily="34" charset="-122"/>
                <a:cs typeface="Georgia" pitchFamily="34" charset="-120"/>
              </a:rPr>
              <a:t>01</a:t>
            </a:r>
            <a:endParaRPr lang="en-US" sz="2600" dirty="0"/>
          </a:p>
        </p:txBody>
      </p:sp>
      <p:sp>
        <p:nvSpPr>
          <p:cNvPr id="13" name="Text 11"/>
          <p:cNvSpPr/>
          <p:nvPr/>
        </p:nvSpPr>
        <p:spPr>
          <a:xfrm>
            <a:off x="4572000" y="932688"/>
            <a:ext cx="4114800" cy="777240"/>
          </a:xfrm>
          <a:prstGeom prst="rect">
            <a:avLst/>
          </a:prstGeom>
          <a:noFill/>
          <a:ln/>
        </p:spPr>
        <p:txBody>
          <a:bodyPr wrap="square" lIns="0" tIns="0" rIns="0" bIns="0" rtlCol="0" anchor="ctr"/>
          <a:lstStyle/>
          <a:p>
            <a:pPr marL="0" indent="0">
              <a:lnSpc>
                <a:spcPct val="140000"/>
              </a:lnSpc>
              <a:buNone/>
            </a:pPr>
            <a:r>
              <a:rPr lang="en-US" sz="1200" dirty="0">
                <a:solidFill>
                  <a:srgbClr val="1A1A1A"/>
                </a:solidFill>
                <a:latin typeface="Calibri" pitchFamily="34" charset="0"/>
                <a:ea typeface="Calibri" pitchFamily="34" charset="-122"/>
                <a:cs typeface="Calibri" pitchFamily="34" charset="-120"/>
              </a:rPr>
              <a:t>Can we predict the likelihood of a cosmetic product causing skin irritation based on its ingredient composition?</a:t>
            </a:r>
            <a:endParaRPr lang="en-US" sz="1200" dirty="0"/>
          </a:p>
        </p:txBody>
      </p:sp>
      <p:sp>
        <p:nvSpPr>
          <p:cNvPr id="14" name="Shape 12"/>
          <p:cNvSpPr/>
          <p:nvPr/>
        </p:nvSpPr>
        <p:spPr>
          <a:xfrm>
            <a:off x="3931920" y="1965960"/>
            <a:ext cx="4754880" cy="4572"/>
          </a:xfrm>
          <a:prstGeom prst="rect">
            <a:avLst/>
          </a:prstGeom>
          <a:solidFill>
            <a:srgbClr val="B8C9BC"/>
          </a:solidFill>
          <a:ln/>
        </p:spPr>
        <p:txBody>
          <a:bodyPr/>
          <a:lstStyle/>
          <a:p>
            <a:endParaRPr lang="en-US"/>
          </a:p>
        </p:txBody>
      </p:sp>
      <p:sp>
        <p:nvSpPr>
          <p:cNvPr id="15" name="Text 13"/>
          <p:cNvSpPr/>
          <p:nvPr/>
        </p:nvSpPr>
        <p:spPr>
          <a:xfrm>
            <a:off x="3931920" y="2194560"/>
            <a:ext cx="548640" cy="411480"/>
          </a:xfrm>
          <a:prstGeom prst="rect">
            <a:avLst/>
          </a:prstGeom>
          <a:noFill/>
          <a:ln/>
        </p:spPr>
        <p:txBody>
          <a:bodyPr wrap="square" lIns="0" tIns="0" rIns="0" bIns="0" rtlCol="0" anchor="ctr"/>
          <a:lstStyle/>
          <a:p>
            <a:pPr marL="0" indent="0">
              <a:buNone/>
            </a:pPr>
            <a:r>
              <a:rPr lang="en-US" sz="2600" dirty="0">
                <a:solidFill>
                  <a:srgbClr val="C2703E"/>
                </a:solidFill>
                <a:latin typeface="Georgia" pitchFamily="34" charset="0"/>
                <a:ea typeface="Georgia" pitchFamily="34" charset="-122"/>
                <a:cs typeface="Georgia" pitchFamily="34" charset="-120"/>
              </a:rPr>
              <a:t>02</a:t>
            </a:r>
            <a:endParaRPr lang="en-US" sz="2600" dirty="0"/>
          </a:p>
        </p:txBody>
      </p:sp>
      <p:sp>
        <p:nvSpPr>
          <p:cNvPr id="16" name="Text 14"/>
          <p:cNvSpPr/>
          <p:nvPr/>
        </p:nvSpPr>
        <p:spPr>
          <a:xfrm>
            <a:off x="4572000" y="2212848"/>
            <a:ext cx="4114800" cy="777240"/>
          </a:xfrm>
          <a:prstGeom prst="rect">
            <a:avLst/>
          </a:prstGeom>
          <a:noFill/>
          <a:ln/>
        </p:spPr>
        <p:txBody>
          <a:bodyPr wrap="square" lIns="0" tIns="0" rIns="0" bIns="0" rtlCol="0" anchor="ctr"/>
          <a:lstStyle/>
          <a:p>
            <a:pPr marL="0" indent="0">
              <a:lnSpc>
                <a:spcPct val="140000"/>
              </a:lnSpc>
              <a:buNone/>
            </a:pPr>
            <a:r>
              <a:rPr lang="en-US" sz="1200" dirty="0">
                <a:solidFill>
                  <a:srgbClr val="1A1A1A"/>
                </a:solidFill>
                <a:latin typeface="Calibri" pitchFamily="34" charset="0"/>
                <a:ea typeface="Calibri" pitchFamily="34" charset="-122"/>
                <a:cs typeface="Calibri" pitchFamily="34" charset="-120"/>
              </a:rPr>
              <a:t>Can unstructured review text data detect early signals of product safety concerns at scale?</a:t>
            </a:r>
            <a:endParaRPr lang="en-US" sz="1200" dirty="0"/>
          </a:p>
        </p:txBody>
      </p:sp>
      <p:sp>
        <p:nvSpPr>
          <p:cNvPr id="17" name="Shape 15"/>
          <p:cNvSpPr/>
          <p:nvPr/>
        </p:nvSpPr>
        <p:spPr>
          <a:xfrm>
            <a:off x="3931920" y="3246120"/>
            <a:ext cx="4754880" cy="4572"/>
          </a:xfrm>
          <a:prstGeom prst="rect">
            <a:avLst/>
          </a:prstGeom>
          <a:solidFill>
            <a:srgbClr val="B8C9BC"/>
          </a:solidFill>
          <a:ln/>
        </p:spPr>
        <p:txBody>
          <a:bodyPr/>
          <a:lstStyle/>
          <a:p>
            <a:endParaRPr lang="en-US"/>
          </a:p>
        </p:txBody>
      </p:sp>
      <p:sp>
        <p:nvSpPr>
          <p:cNvPr id="18" name="Text 16"/>
          <p:cNvSpPr/>
          <p:nvPr/>
        </p:nvSpPr>
        <p:spPr>
          <a:xfrm>
            <a:off x="3931920" y="3474720"/>
            <a:ext cx="548640" cy="411480"/>
          </a:xfrm>
          <a:prstGeom prst="rect">
            <a:avLst/>
          </a:prstGeom>
          <a:noFill/>
          <a:ln/>
        </p:spPr>
        <p:txBody>
          <a:bodyPr wrap="square" lIns="0" tIns="0" rIns="0" bIns="0" rtlCol="0" anchor="ctr"/>
          <a:lstStyle/>
          <a:p>
            <a:pPr marL="0" indent="0">
              <a:buNone/>
            </a:pPr>
            <a:r>
              <a:rPr lang="en-US" sz="2600" dirty="0">
                <a:solidFill>
                  <a:srgbClr val="C2703E"/>
                </a:solidFill>
                <a:latin typeface="Georgia" pitchFamily="34" charset="0"/>
                <a:ea typeface="Georgia" pitchFamily="34" charset="-122"/>
                <a:cs typeface="Georgia" pitchFamily="34" charset="-120"/>
              </a:rPr>
              <a:t>03</a:t>
            </a:r>
            <a:endParaRPr lang="en-US" sz="2600" dirty="0"/>
          </a:p>
        </p:txBody>
      </p:sp>
      <p:sp>
        <p:nvSpPr>
          <p:cNvPr id="19" name="Text 17"/>
          <p:cNvSpPr/>
          <p:nvPr/>
        </p:nvSpPr>
        <p:spPr>
          <a:xfrm>
            <a:off x="4572000" y="3493008"/>
            <a:ext cx="4114800" cy="777240"/>
          </a:xfrm>
          <a:prstGeom prst="rect">
            <a:avLst/>
          </a:prstGeom>
          <a:noFill/>
          <a:ln/>
        </p:spPr>
        <p:txBody>
          <a:bodyPr wrap="square" lIns="0" tIns="0" rIns="0" bIns="0" rtlCol="0" anchor="ctr"/>
          <a:lstStyle/>
          <a:p>
            <a:pPr marL="0" indent="0">
              <a:lnSpc>
                <a:spcPct val="140000"/>
              </a:lnSpc>
              <a:buNone/>
            </a:pPr>
            <a:r>
              <a:rPr lang="en-US" sz="1200" dirty="0">
                <a:solidFill>
                  <a:srgbClr val="1A1A1A"/>
                </a:solidFill>
                <a:latin typeface="Calibri" pitchFamily="34" charset="0"/>
                <a:ea typeface="Calibri" pitchFamily="34" charset="-122"/>
                <a:cs typeface="Calibri" pitchFamily="34" charset="-120"/>
              </a:rPr>
              <a:t>Which specific ingredients or ingredient combinations are most strongly associated with negative skin reactions?</a:t>
            </a:r>
            <a:endParaRPr lang="en-US" sz="1200" dirty="0"/>
          </a:p>
        </p:txBody>
      </p:sp>
      <p:sp>
        <p:nvSpPr>
          <p:cNvPr id="20" name="Text 18"/>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7A8A80"/>
                </a:solidFill>
                <a:latin typeface="Calibri" pitchFamily="34" charset="0"/>
                <a:ea typeface="Calibri" pitchFamily="34" charset="-122"/>
                <a:cs typeface="Calibri" pitchFamily="34" charset="-120"/>
              </a:rPr>
              <a:t>2</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4572000" cy="22860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DATA SOURCES &amp; QUALITY</a:t>
            </a:r>
            <a:endParaRPr lang="en-US" sz="1000" dirty="0"/>
          </a:p>
        </p:txBody>
      </p:sp>
      <p:sp>
        <p:nvSpPr>
          <p:cNvPr id="3" name="Text 1"/>
          <p:cNvSpPr/>
          <p:nvPr/>
        </p:nvSpPr>
        <p:spPr>
          <a:xfrm>
            <a:off x="640080" y="685800"/>
            <a:ext cx="7315200" cy="411480"/>
          </a:xfrm>
          <a:prstGeom prst="rect">
            <a:avLst/>
          </a:prstGeom>
          <a:noFill/>
          <a:ln/>
        </p:spPr>
        <p:txBody>
          <a:bodyPr wrap="square" lIns="0" tIns="0" rIns="0" bIns="0" rtlCol="0" anchor="ctr"/>
          <a:lstStyle/>
          <a:p>
            <a:pPr marL="0" indent="0">
              <a:buNone/>
            </a:pPr>
            <a:r>
              <a:rPr lang="en-US" sz="2400" dirty="0">
                <a:solidFill>
                  <a:srgbClr val="1A1A1A"/>
                </a:solidFill>
                <a:latin typeface="Georgia" pitchFamily="34" charset="0"/>
                <a:ea typeface="Georgia" pitchFamily="34" charset="-122"/>
                <a:cs typeface="Georgia" pitchFamily="34" charset="-120"/>
              </a:rPr>
              <a:t>Three datasets, one merged pipeline</a:t>
            </a:r>
            <a:endParaRPr lang="en-US" sz="2400" dirty="0"/>
          </a:p>
        </p:txBody>
      </p:sp>
      <p:sp>
        <p:nvSpPr>
          <p:cNvPr id="4" name="Shape 2"/>
          <p:cNvSpPr/>
          <p:nvPr/>
        </p:nvSpPr>
        <p:spPr>
          <a:xfrm>
            <a:off x="640080" y="1280160"/>
            <a:ext cx="2560320" cy="1280160"/>
          </a:xfrm>
          <a:prstGeom prst="rect">
            <a:avLst/>
          </a:prstGeom>
          <a:solidFill>
            <a:srgbClr val="2D4A3E"/>
          </a:solidFill>
          <a:ln/>
        </p:spPr>
        <p:txBody>
          <a:bodyPr/>
          <a:lstStyle/>
          <a:p>
            <a:endParaRPr lang="en-US"/>
          </a:p>
        </p:txBody>
      </p:sp>
      <p:sp>
        <p:nvSpPr>
          <p:cNvPr id="5" name="Text 3"/>
          <p:cNvSpPr/>
          <p:nvPr/>
        </p:nvSpPr>
        <p:spPr>
          <a:xfrm>
            <a:off x="868680" y="1371600"/>
            <a:ext cx="2103120" cy="502920"/>
          </a:xfrm>
          <a:prstGeom prst="rect">
            <a:avLst/>
          </a:prstGeom>
          <a:noFill/>
          <a:ln/>
        </p:spPr>
        <p:txBody>
          <a:bodyPr wrap="square" lIns="0" tIns="0" rIns="0" bIns="0" rtlCol="0" anchor="ctr"/>
          <a:lstStyle/>
          <a:p>
            <a:pPr marL="0" indent="0">
              <a:buNone/>
            </a:pPr>
            <a:r>
              <a:rPr lang="en-US" sz="2800" b="1" dirty="0">
                <a:solidFill>
                  <a:srgbClr val="F7F3ED"/>
                </a:solidFill>
                <a:latin typeface="Georgia" pitchFamily="34" charset="0"/>
                <a:ea typeface="Georgia" pitchFamily="34" charset="-122"/>
                <a:cs typeface="Georgia" pitchFamily="34" charset="-120"/>
              </a:rPr>
              <a:t>1.09M</a:t>
            </a:r>
            <a:endParaRPr lang="en-US" sz="2800" dirty="0"/>
          </a:p>
        </p:txBody>
      </p:sp>
      <p:sp>
        <p:nvSpPr>
          <p:cNvPr id="6" name="Text 4"/>
          <p:cNvSpPr/>
          <p:nvPr/>
        </p:nvSpPr>
        <p:spPr>
          <a:xfrm>
            <a:off x="868680" y="1920240"/>
            <a:ext cx="2103120" cy="502920"/>
          </a:xfrm>
          <a:prstGeom prst="rect">
            <a:avLst/>
          </a:prstGeom>
          <a:noFill/>
          <a:ln/>
        </p:spPr>
        <p:txBody>
          <a:bodyPr wrap="square" lIns="0" tIns="0" rIns="0" bIns="0" rtlCol="0" anchor="ctr"/>
          <a:lstStyle/>
          <a:p>
            <a:pPr marL="0" indent="0">
              <a:lnSpc>
                <a:spcPct val="130000"/>
              </a:lnSpc>
              <a:buNone/>
            </a:pPr>
            <a:r>
              <a:rPr lang="en-US" sz="1100" dirty="0">
                <a:solidFill>
                  <a:srgbClr val="B8C9BC"/>
                </a:solidFill>
                <a:latin typeface="Calibri" pitchFamily="34" charset="0"/>
                <a:ea typeface="Calibri" pitchFamily="34" charset="-122"/>
                <a:cs typeface="Calibri" pitchFamily="34" charset="-120"/>
              </a:rPr>
              <a:t>Sephora reviews with</a:t>
            </a:r>
            <a:endParaRPr lang="en-US" sz="1100" dirty="0"/>
          </a:p>
          <a:p>
            <a:pPr marL="0" indent="0">
              <a:lnSpc>
                <a:spcPct val="130000"/>
              </a:lnSpc>
              <a:buNone/>
            </a:pPr>
            <a:r>
              <a:rPr lang="en-US" sz="1100" dirty="0">
                <a:solidFill>
                  <a:srgbClr val="B8C9BC"/>
                </a:solidFill>
                <a:latin typeface="Calibri" pitchFamily="34" charset="0"/>
                <a:ea typeface="Calibri" pitchFamily="34" charset="-122"/>
                <a:cs typeface="Calibri" pitchFamily="34" charset="-120"/>
              </a:rPr>
              <a:t>ratings, skin type, text</a:t>
            </a:r>
            <a:endParaRPr lang="en-US" sz="1100" dirty="0"/>
          </a:p>
        </p:txBody>
      </p:sp>
      <p:sp>
        <p:nvSpPr>
          <p:cNvPr id="7" name="Shape 5"/>
          <p:cNvSpPr/>
          <p:nvPr/>
        </p:nvSpPr>
        <p:spPr>
          <a:xfrm>
            <a:off x="3474720" y="1280160"/>
            <a:ext cx="2560320" cy="1280160"/>
          </a:xfrm>
          <a:prstGeom prst="rect">
            <a:avLst/>
          </a:prstGeom>
          <a:solidFill>
            <a:srgbClr val="F9EDE3"/>
          </a:solidFill>
          <a:ln/>
        </p:spPr>
        <p:txBody>
          <a:bodyPr/>
          <a:lstStyle/>
          <a:p>
            <a:endParaRPr lang="en-US"/>
          </a:p>
        </p:txBody>
      </p:sp>
      <p:sp>
        <p:nvSpPr>
          <p:cNvPr id="8" name="Text 6"/>
          <p:cNvSpPr/>
          <p:nvPr/>
        </p:nvSpPr>
        <p:spPr>
          <a:xfrm>
            <a:off x="3703320" y="1371600"/>
            <a:ext cx="2103120" cy="502920"/>
          </a:xfrm>
          <a:prstGeom prst="rect">
            <a:avLst/>
          </a:prstGeom>
          <a:noFill/>
          <a:ln/>
        </p:spPr>
        <p:txBody>
          <a:bodyPr wrap="square" lIns="0" tIns="0" rIns="0" bIns="0" rtlCol="0" anchor="ctr"/>
          <a:lstStyle/>
          <a:p>
            <a:pPr marL="0" indent="0">
              <a:buNone/>
            </a:pPr>
            <a:r>
              <a:rPr lang="en-US" sz="2800" b="1" dirty="0">
                <a:solidFill>
                  <a:srgbClr val="C2703E"/>
                </a:solidFill>
                <a:latin typeface="Georgia" pitchFamily="34" charset="0"/>
                <a:ea typeface="Georgia" pitchFamily="34" charset="-122"/>
                <a:cs typeface="Georgia" pitchFamily="34" charset="-120"/>
              </a:rPr>
              <a:t>~8K</a:t>
            </a:r>
            <a:endParaRPr lang="en-US" sz="2800" dirty="0"/>
          </a:p>
        </p:txBody>
      </p:sp>
      <p:sp>
        <p:nvSpPr>
          <p:cNvPr id="9" name="Text 7"/>
          <p:cNvSpPr/>
          <p:nvPr/>
        </p:nvSpPr>
        <p:spPr>
          <a:xfrm>
            <a:off x="3703320" y="1920240"/>
            <a:ext cx="2103120" cy="502920"/>
          </a:xfrm>
          <a:prstGeom prst="rect">
            <a:avLst/>
          </a:prstGeom>
          <a:noFill/>
          <a:ln/>
        </p:spPr>
        <p:txBody>
          <a:bodyPr wrap="square" lIns="0" tIns="0" rIns="0" bIns="0" rtlCol="0" anchor="ctr"/>
          <a:lstStyle/>
          <a:p>
            <a:pPr marL="0" indent="0">
              <a:lnSpc>
                <a:spcPct val="130000"/>
              </a:lnSpc>
              <a:buNone/>
            </a:pPr>
            <a:r>
              <a:rPr lang="en-US" sz="1100" dirty="0">
                <a:solidFill>
                  <a:srgbClr val="9E5A30"/>
                </a:solidFill>
                <a:latin typeface="Calibri" pitchFamily="34" charset="0"/>
                <a:ea typeface="Calibri" pitchFamily="34" charset="-122"/>
                <a:cs typeface="Calibri" pitchFamily="34" charset="-120"/>
              </a:rPr>
              <a:t>Products with full</a:t>
            </a:r>
            <a:endParaRPr lang="en-US" sz="1100" dirty="0"/>
          </a:p>
          <a:p>
            <a:pPr marL="0" indent="0">
              <a:lnSpc>
                <a:spcPct val="130000"/>
              </a:lnSpc>
              <a:buNone/>
            </a:pPr>
            <a:r>
              <a:rPr lang="en-US" sz="1100" dirty="0">
                <a:solidFill>
                  <a:srgbClr val="9E5A30"/>
                </a:solidFill>
                <a:latin typeface="Calibri" pitchFamily="34" charset="0"/>
                <a:ea typeface="Calibri" pitchFamily="34" charset="-122"/>
                <a:cs typeface="Calibri" pitchFamily="34" charset="-120"/>
              </a:rPr>
              <a:t>ingredient lists &amp; metadata</a:t>
            </a:r>
            <a:endParaRPr lang="en-US" sz="1100" dirty="0"/>
          </a:p>
        </p:txBody>
      </p:sp>
      <p:sp>
        <p:nvSpPr>
          <p:cNvPr id="10" name="Shape 8"/>
          <p:cNvSpPr/>
          <p:nvPr/>
        </p:nvSpPr>
        <p:spPr>
          <a:xfrm>
            <a:off x="6309360" y="1280160"/>
            <a:ext cx="2560320" cy="1280160"/>
          </a:xfrm>
          <a:prstGeom prst="rect">
            <a:avLst/>
          </a:prstGeom>
          <a:solidFill>
            <a:srgbClr val="E8EEEA"/>
          </a:solidFill>
          <a:ln/>
        </p:spPr>
        <p:txBody>
          <a:bodyPr/>
          <a:lstStyle/>
          <a:p>
            <a:endParaRPr lang="en-US"/>
          </a:p>
        </p:txBody>
      </p:sp>
      <p:sp>
        <p:nvSpPr>
          <p:cNvPr id="11" name="Text 9"/>
          <p:cNvSpPr/>
          <p:nvPr/>
        </p:nvSpPr>
        <p:spPr>
          <a:xfrm>
            <a:off x="6537960" y="1371600"/>
            <a:ext cx="2103120" cy="502920"/>
          </a:xfrm>
          <a:prstGeom prst="rect">
            <a:avLst/>
          </a:prstGeom>
          <a:noFill/>
          <a:ln/>
        </p:spPr>
        <p:txBody>
          <a:bodyPr wrap="square" lIns="0" tIns="0" rIns="0" bIns="0" rtlCol="0" anchor="ctr"/>
          <a:lstStyle/>
          <a:p>
            <a:pPr marL="0" indent="0">
              <a:buNone/>
            </a:pPr>
            <a:r>
              <a:rPr lang="en-US" sz="2800" b="1" dirty="0">
                <a:solidFill>
                  <a:srgbClr val="2D4A3E"/>
                </a:solidFill>
                <a:latin typeface="Georgia" pitchFamily="34" charset="0"/>
                <a:ea typeface="Georgia" pitchFamily="34" charset="-122"/>
                <a:cs typeface="Georgia" pitchFamily="34" charset="-120"/>
              </a:rPr>
              <a:t>INCI</a:t>
            </a:r>
            <a:endParaRPr lang="en-US" sz="2800" dirty="0"/>
          </a:p>
        </p:txBody>
      </p:sp>
      <p:sp>
        <p:nvSpPr>
          <p:cNvPr id="12" name="Text 10"/>
          <p:cNvSpPr/>
          <p:nvPr/>
        </p:nvSpPr>
        <p:spPr>
          <a:xfrm>
            <a:off x="6537960" y="1920240"/>
            <a:ext cx="2103120" cy="502920"/>
          </a:xfrm>
          <a:prstGeom prst="rect">
            <a:avLst/>
          </a:prstGeom>
          <a:noFill/>
          <a:ln/>
        </p:spPr>
        <p:txBody>
          <a:bodyPr wrap="square" lIns="0" tIns="0" rIns="0" bIns="0" rtlCol="0" anchor="ctr"/>
          <a:lstStyle/>
          <a:p>
            <a:pPr marL="0" indent="0">
              <a:lnSpc>
                <a:spcPct val="130000"/>
              </a:lnSpc>
              <a:buNone/>
            </a:pPr>
            <a:r>
              <a:rPr lang="en-US" sz="1100" dirty="0">
                <a:solidFill>
                  <a:srgbClr val="7A8A80"/>
                </a:solidFill>
                <a:latin typeface="Calibri" pitchFamily="34" charset="0"/>
                <a:ea typeface="Calibri" pitchFamily="34" charset="-122"/>
                <a:cs typeface="Calibri" pitchFamily="34" charset="-120"/>
              </a:rPr>
              <a:t>Standardized ingredient</a:t>
            </a:r>
            <a:endParaRPr lang="en-US" sz="1100" dirty="0"/>
          </a:p>
          <a:p>
            <a:pPr marL="0" indent="0">
              <a:lnSpc>
                <a:spcPct val="130000"/>
              </a:lnSpc>
              <a:buNone/>
            </a:pPr>
            <a:r>
              <a:rPr lang="en-US" sz="1100" dirty="0">
                <a:solidFill>
                  <a:srgbClr val="7A8A80"/>
                </a:solidFill>
                <a:latin typeface="Calibri" pitchFamily="34" charset="0"/>
                <a:ea typeface="Calibri" pitchFamily="34" charset="-122"/>
                <a:cs typeface="Calibri" pitchFamily="34" charset="-120"/>
              </a:rPr>
              <a:t>names with hazard flags</a:t>
            </a:r>
            <a:endParaRPr lang="en-US" sz="1100" dirty="0"/>
          </a:p>
        </p:txBody>
      </p:sp>
      <p:sp>
        <p:nvSpPr>
          <p:cNvPr id="13" name="Text 11"/>
          <p:cNvSpPr/>
          <p:nvPr/>
        </p:nvSpPr>
        <p:spPr>
          <a:xfrm>
            <a:off x="640080" y="2834640"/>
            <a:ext cx="4572000" cy="22860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DATA QUALITY CONCERNS</a:t>
            </a:r>
            <a:endParaRPr lang="en-US" sz="1000" dirty="0"/>
          </a:p>
        </p:txBody>
      </p:sp>
      <p:sp>
        <p:nvSpPr>
          <p:cNvPr id="14" name="Shape 12"/>
          <p:cNvSpPr/>
          <p:nvPr/>
        </p:nvSpPr>
        <p:spPr>
          <a:xfrm>
            <a:off x="640080" y="3182112"/>
            <a:ext cx="109728" cy="109728"/>
          </a:xfrm>
          <a:prstGeom prst="ellipse">
            <a:avLst/>
          </a:prstGeom>
          <a:solidFill>
            <a:srgbClr val="C2703E"/>
          </a:solidFill>
          <a:ln/>
        </p:spPr>
        <p:txBody>
          <a:bodyPr/>
          <a:lstStyle/>
          <a:p>
            <a:endParaRPr lang="en-US"/>
          </a:p>
        </p:txBody>
      </p:sp>
      <p:sp>
        <p:nvSpPr>
          <p:cNvPr id="15" name="Text 13"/>
          <p:cNvSpPr/>
          <p:nvPr/>
        </p:nvSpPr>
        <p:spPr>
          <a:xfrm>
            <a:off x="868680" y="3108960"/>
            <a:ext cx="7772400" cy="292608"/>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Ingredient columns mix marketing text with actual INCI lists, making clean extraction difficult</a:t>
            </a:r>
            <a:endParaRPr lang="en-US" sz="1100" dirty="0"/>
          </a:p>
        </p:txBody>
      </p:sp>
      <p:sp>
        <p:nvSpPr>
          <p:cNvPr id="16" name="Shape 14"/>
          <p:cNvSpPr/>
          <p:nvPr/>
        </p:nvSpPr>
        <p:spPr>
          <a:xfrm>
            <a:off x="640080" y="3529584"/>
            <a:ext cx="109728" cy="109728"/>
          </a:xfrm>
          <a:prstGeom prst="ellipse">
            <a:avLst/>
          </a:prstGeom>
          <a:solidFill>
            <a:srgbClr val="C2703E"/>
          </a:solidFill>
          <a:ln/>
        </p:spPr>
        <p:txBody>
          <a:bodyPr/>
          <a:lstStyle/>
          <a:p>
            <a:endParaRPr lang="en-US"/>
          </a:p>
        </p:txBody>
      </p:sp>
      <p:sp>
        <p:nvSpPr>
          <p:cNvPr id="17" name="Text 15"/>
          <p:cNvSpPr/>
          <p:nvPr/>
        </p:nvSpPr>
        <p:spPr>
          <a:xfrm>
            <a:off x="868680" y="3456432"/>
            <a:ext cx="7772400" cy="292608"/>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Review text is user-generated with no standard vocabulary ('broke me out' = 'caused a rash')</a:t>
            </a:r>
            <a:endParaRPr lang="en-US" sz="1100" dirty="0"/>
          </a:p>
        </p:txBody>
      </p:sp>
      <p:sp>
        <p:nvSpPr>
          <p:cNvPr id="18" name="Shape 16"/>
          <p:cNvSpPr/>
          <p:nvPr/>
        </p:nvSpPr>
        <p:spPr>
          <a:xfrm>
            <a:off x="640080" y="3877056"/>
            <a:ext cx="109728" cy="109728"/>
          </a:xfrm>
          <a:prstGeom prst="ellipse">
            <a:avLst/>
          </a:prstGeom>
          <a:solidFill>
            <a:srgbClr val="2D4A3E"/>
          </a:solidFill>
          <a:ln/>
        </p:spPr>
        <p:txBody>
          <a:bodyPr/>
          <a:lstStyle/>
          <a:p>
            <a:endParaRPr lang="en-US"/>
          </a:p>
        </p:txBody>
      </p:sp>
      <p:sp>
        <p:nvSpPr>
          <p:cNvPr id="19" name="Text 17"/>
          <p:cNvSpPr/>
          <p:nvPr/>
        </p:nvSpPr>
        <p:spPr>
          <a:xfrm>
            <a:off x="868680" y="3803904"/>
            <a:ext cx="7772400" cy="292608"/>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Self-reported skin_type is unverified and may introduce response bias</a:t>
            </a:r>
            <a:endParaRPr lang="en-US" sz="1100" dirty="0"/>
          </a:p>
        </p:txBody>
      </p:sp>
      <p:sp>
        <p:nvSpPr>
          <p:cNvPr id="20" name="Shape 18"/>
          <p:cNvSpPr/>
          <p:nvPr/>
        </p:nvSpPr>
        <p:spPr>
          <a:xfrm>
            <a:off x="640080" y="4224528"/>
            <a:ext cx="109728" cy="109728"/>
          </a:xfrm>
          <a:prstGeom prst="ellipse">
            <a:avLst/>
          </a:prstGeom>
          <a:solidFill>
            <a:srgbClr val="2D4A3E"/>
          </a:solidFill>
          <a:ln/>
        </p:spPr>
        <p:txBody>
          <a:bodyPr/>
          <a:lstStyle/>
          <a:p>
            <a:endParaRPr lang="en-US"/>
          </a:p>
        </p:txBody>
      </p:sp>
      <p:sp>
        <p:nvSpPr>
          <p:cNvPr id="21" name="Text 19"/>
          <p:cNvSpPr/>
          <p:nvPr/>
        </p:nvSpPr>
        <p:spPr>
          <a:xfrm>
            <a:off x="868680" y="4151376"/>
            <a:ext cx="7772400" cy="292608"/>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7.3:1 class imbalance (88% no irritation vs 12% irritation) requires deliberate balancing</a:t>
            </a:r>
            <a:endParaRPr lang="en-US" sz="1100" dirty="0"/>
          </a:p>
        </p:txBody>
      </p:sp>
      <p:sp>
        <p:nvSpPr>
          <p:cNvPr id="22" name="Shape 20"/>
          <p:cNvSpPr/>
          <p:nvPr/>
        </p:nvSpPr>
        <p:spPr>
          <a:xfrm>
            <a:off x="640080" y="4572000"/>
            <a:ext cx="109728" cy="109728"/>
          </a:xfrm>
          <a:prstGeom prst="ellipse">
            <a:avLst/>
          </a:prstGeom>
          <a:solidFill>
            <a:srgbClr val="2D4A3E"/>
          </a:solidFill>
          <a:ln/>
        </p:spPr>
        <p:txBody>
          <a:bodyPr/>
          <a:lstStyle/>
          <a:p>
            <a:endParaRPr lang="en-US"/>
          </a:p>
        </p:txBody>
      </p:sp>
      <p:sp>
        <p:nvSpPr>
          <p:cNvPr id="23" name="Text 21"/>
          <p:cNvSpPr/>
          <p:nvPr/>
        </p:nvSpPr>
        <p:spPr>
          <a:xfrm>
            <a:off x="868680" y="4498848"/>
            <a:ext cx="7772400" cy="292608"/>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INCI names differ from trade names/abbreviations in Sephora data, needing approximate matching</a:t>
            </a:r>
            <a:endParaRPr lang="en-US" sz="1100" dirty="0"/>
          </a:p>
        </p:txBody>
      </p:sp>
      <p:sp>
        <p:nvSpPr>
          <p:cNvPr id="24" name="Text 22"/>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7A8A80"/>
                </a:solidFill>
                <a:latin typeface="Calibri" pitchFamily="34" charset="0"/>
                <a:ea typeface="Calibri" pitchFamily="34" charset="-122"/>
                <a:cs typeface="Calibri" pitchFamily="34" charset="-120"/>
              </a:rPr>
              <a:t>3</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D"/>
        </a:solidFill>
        <a:effectLst/>
      </p:bgPr>
    </p:bg>
    <p:spTree>
      <p:nvGrpSpPr>
        <p:cNvPr id="1" name=""/>
        <p:cNvGrpSpPr/>
        <p:nvPr/>
      </p:nvGrpSpPr>
      <p:grpSpPr>
        <a:xfrm>
          <a:off x="0" y="0"/>
          <a:ext cx="0" cy="0"/>
          <a:chOff x="0" y="0"/>
          <a:chExt cx="0" cy="0"/>
        </a:xfrm>
      </p:grpSpPr>
      <p:sp>
        <p:nvSpPr>
          <p:cNvPr id="2" name="Text 0"/>
          <p:cNvSpPr/>
          <p:nvPr/>
        </p:nvSpPr>
        <p:spPr>
          <a:xfrm>
            <a:off x="640080" y="411480"/>
            <a:ext cx="4572000" cy="22860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METHODOLOGY</a:t>
            </a:r>
            <a:endParaRPr lang="en-US" sz="1000" dirty="0"/>
          </a:p>
        </p:txBody>
      </p:sp>
      <p:sp>
        <p:nvSpPr>
          <p:cNvPr id="3" name="Text 1"/>
          <p:cNvSpPr/>
          <p:nvPr/>
        </p:nvSpPr>
        <p:spPr>
          <a:xfrm>
            <a:off x="640080" y="685800"/>
            <a:ext cx="7315200" cy="411480"/>
          </a:xfrm>
          <a:prstGeom prst="rect">
            <a:avLst/>
          </a:prstGeom>
          <a:noFill/>
          <a:ln/>
        </p:spPr>
        <p:txBody>
          <a:bodyPr wrap="square" lIns="0" tIns="0" rIns="0" bIns="0" rtlCol="0" anchor="ctr"/>
          <a:lstStyle/>
          <a:p>
            <a:pPr marL="0" indent="0">
              <a:buNone/>
            </a:pPr>
            <a:r>
              <a:rPr lang="en-US" sz="2400" dirty="0">
                <a:solidFill>
                  <a:srgbClr val="1A1A1A"/>
                </a:solidFill>
                <a:latin typeface="Georgia" pitchFamily="34" charset="0"/>
                <a:ea typeface="Georgia" pitchFamily="34" charset="-122"/>
                <a:cs typeface="Georgia" pitchFamily="34" charset="-120"/>
              </a:rPr>
              <a:t>Feature engineering &amp; NLP pipeline</a:t>
            </a:r>
            <a:endParaRPr lang="en-US" sz="2400" dirty="0"/>
          </a:p>
        </p:txBody>
      </p:sp>
      <p:sp>
        <p:nvSpPr>
          <p:cNvPr id="4" name="Shape 2"/>
          <p:cNvSpPr/>
          <p:nvPr/>
        </p:nvSpPr>
        <p:spPr>
          <a:xfrm>
            <a:off x="640080" y="1143000"/>
            <a:ext cx="2560320" cy="2514600"/>
          </a:xfrm>
          <a:prstGeom prst="rect">
            <a:avLst/>
          </a:prstGeom>
          <a:solidFill>
            <a:srgbClr val="2D4A3E"/>
          </a:solidFill>
          <a:ln/>
        </p:spPr>
        <p:txBody>
          <a:bodyPr/>
          <a:lstStyle/>
          <a:p>
            <a:endParaRPr lang="en-US"/>
          </a:p>
        </p:txBody>
      </p:sp>
      <p:sp>
        <p:nvSpPr>
          <p:cNvPr id="5" name="Text 3"/>
          <p:cNvSpPr/>
          <p:nvPr/>
        </p:nvSpPr>
        <p:spPr>
          <a:xfrm>
            <a:off x="868680" y="1252728"/>
            <a:ext cx="2103120" cy="274320"/>
          </a:xfrm>
          <a:prstGeom prst="rect">
            <a:avLst/>
          </a:prstGeom>
          <a:noFill/>
          <a:ln/>
        </p:spPr>
        <p:txBody>
          <a:bodyPr wrap="square" lIns="0" tIns="0" rIns="0" bIns="0" rtlCol="0" anchor="ctr"/>
          <a:lstStyle/>
          <a:p>
            <a:pPr marL="0" indent="0">
              <a:buNone/>
            </a:pPr>
            <a:r>
              <a:rPr lang="en-US" sz="1300" dirty="0">
                <a:solidFill>
                  <a:srgbClr val="F7F3ED"/>
                </a:solidFill>
                <a:latin typeface="Georgia" pitchFamily="34" charset="0"/>
                <a:ea typeface="Georgia" pitchFamily="34" charset="-122"/>
                <a:cs typeface="Georgia" pitchFamily="34" charset="-120"/>
              </a:rPr>
              <a:t>Allergen flags</a:t>
            </a:r>
            <a:endParaRPr lang="en-US" sz="1300" dirty="0"/>
          </a:p>
        </p:txBody>
      </p:sp>
      <p:sp>
        <p:nvSpPr>
          <p:cNvPr id="6" name="Text 4"/>
          <p:cNvSpPr/>
          <p:nvPr/>
        </p:nvSpPr>
        <p:spPr>
          <a:xfrm>
            <a:off x="868680" y="1645920"/>
            <a:ext cx="2103120" cy="914400"/>
          </a:xfrm>
          <a:prstGeom prst="rect">
            <a:avLst/>
          </a:prstGeom>
          <a:noFill/>
          <a:ln/>
        </p:spPr>
        <p:txBody>
          <a:bodyPr wrap="square" lIns="0" tIns="0" rIns="0" bIns="0" rtlCol="0" anchor="ctr"/>
          <a:lstStyle/>
          <a:p>
            <a:pPr marL="0" indent="0">
              <a:lnSpc>
                <a:spcPct val="140000"/>
              </a:lnSpc>
              <a:buNone/>
            </a:pPr>
            <a:r>
              <a:rPr lang="en-US" sz="1100" dirty="0">
                <a:solidFill>
                  <a:srgbClr val="B8C9BC"/>
                </a:solidFill>
                <a:latin typeface="Calibri" pitchFamily="34" charset="0"/>
                <a:ea typeface="Calibri" pitchFamily="34" charset="-122"/>
                <a:cs typeface="Calibri" pitchFamily="34" charset="-120"/>
              </a:rPr>
              <a:t>10 binary indicators for: fragrance, alcohol, paraben, sulfate, essential oils, retinol, formaldehyde releasers, phthalates, mineral oil, silicones</a:t>
            </a:r>
            <a:endParaRPr lang="en-US" sz="1100" dirty="0"/>
          </a:p>
        </p:txBody>
      </p:sp>
      <p:sp>
        <p:nvSpPr>
          <p:cNvPr id="7" name="Text 5"/>
          <p:cNvSpPr/>
          <p:nvPr/>
        </p:nvSpPr>
        <p:spPr>
          <a:xfrm>
            <a:off x="868680" y="2606040"/>
            <a:ext cx="2103120" cy="548640"/>
          </a:xfrm>
          <a:prstGeom prst="rect">
            <a:avLst/>
          </a:prstGeom>
          <a:noFill/>
          <a:ln/>
        </p:spPr>
        <p:txBody>
          <a:bodyPr wrap="square" lIns="0" tIns="0" rIns="0" bIns="0" rtlCol="0" anchor="ctr"/>
          <a:lstStyle/>
          <a:p>
            <a:pPr marL="0" indent="0">
              <a:lnSpc>
                <a:spcPct val="130000"/>
              </a:lnSpc>
              <a:buNone/>
            </a:pPr>
            <a:r>
              <a:rPr lang="en-US" sz="1100" i="1" dirty="0">
                <a:solidFill>
                  <a:srgbClr val="B8C9BC"/>
                </a:solidFill>
                <a:latin typeface="Calibri" pitchFamily="34" charset="0"/>
                <a:ea typeface="Calibri" pitchFamily="34" charset="-122"/>
                <a:cs typeface="Calibri" pitchFamily="34" charset="-120"/>
              </a:rPr>
              <a:t>+ 8 pairwise interaction features (e.g., fragrance × alcohol, alcohol × retinol)</a:t>
            </a:r>
            <a:endParaRPr lang="en-US" sz="1100" dirty="0"/>
          </a:p>
        </p:txBody>
      </p:sp>
      <p:sp>
        <p:nvSpPr>
          <p:cNvPr id="8" name="Shape 6"/>
          <p:cNvSpPr/>
          <p:nvPr/>
        </p:nvSpPr>
        <p:spPr>
          <a:xfrm>
            <a:off x="3383280" y="1143000"/>
            <a:ext cx="2560320" cy="2514600"/>
          </a:xfrm>
          <a:prstGeom prst="rect">
            <a:avLst/>
          </a:prstGeom>
          <a:solidFill>
            <a:srgbClr val="F9EDE3"/>
          </a:solidFill>
          <a:ln/>
        </p:spPr>
        <p:txBody>
          <a:bodyPr/>
          <a:lstStyle/>
          <a:p>
            <a:endParaRPr lang="en-US"/>
          </a:p>
        </p:txBody>
      </p:sp>
      <p:sp>
        <p:nvSpPr>
          <p:cNvPr id="9" name="Text 7"/>
          <p:cNvSpPr/>
          <p:nvPr/>
        </p:nvSpPr>
        <p:spPr>
          <a:xfrm>
            <a:off x="3611880" y="1252728"/>
            <a:ext cx="2103120" cy="274320"/>
          </a:xfrm>
          <a:prstGeom prst="rect">
            <a:avLst/>
          </a:prstGeom>
          <a:noFill/>
          <a:ln/>
        </p:spPr>
        <p:txBody>
          <a:bodyPr wrap="square" lIns="0" tIns="0" rIns="0" bIns="0" rtlCol="0" anchor="ctr"/>
          <a:lstStyle/>
          <a:p>
            <a:pPr marL="0" indent="0">
              <a:buNone/>
            </a:pPr>
            <a:r>
              <a:rPr lang="en-US" sz="1300" dirty="0">
                <a:solidFill>
                  <a:srgbClr val="9E5A30"/>
                </a:solidFill>
                <a:latin typeface="Georgia" pitchFamily="34" charset="0"/>
                <a:ea typeface="Georgia" pitchFamily="34" charset="-122"/>
                <a:cs typeface="Georgia" pitchFamily="34" charset="-120"/>
              </a:rPr>
              <a:t>Aggregate risk</a:t>
            </a:r>
            <a:endParaRPr lang="en-US" sz="1300" dirty="0"/>
          </a:p>
        </p:txBody>
      </p:sp>
      <p:sp>
        <p:nvSpPr>
          <p:cNvPr id="10" name="Text 8"/>
          <p:cNvSpPr/>
          <p:nvPr/>
        </p:nvSpPr>
        <p:spPr>
          <a:xfrm>
            <a:off x="3611880" y="1645920"/>
            <a:ext cx="2103120" cy="1828800"/>
          </a:xfrm>
          <a:prstGeom prst="rect">
            <a:avLst/>
          </a:prstGeom>
          <a:noFill/>
          <a:ln/>
        </p:spPr>
        <p:txBody>
          <a:bodyPr wrap="square" lIns="0" tIns="0" rIns="0" bIns="0" rtlCol="0" anchor="ctr"/>
          <a:lstStyle/>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allergen_count: total flagged allergens per product</a:t>
            </a:r>
          </a:p>
          <a:p>
            <a:pPr marL="0" indent="0">
              <a:lnSpc>
                <a:spcPct val="130000"/>
              </a:lnSpc>
              <a:buNone/>
            </a:pPr>
            <a:endParaRPr lang="en-US" sz="1100" dirty="0"/>
          </a:p>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toxicity_score: severity-weighted sum (formaldehyde=5, phthalates=4, fragrance/sulfate/retinol=3, oils/alcohol=2, others=1)</a:t>
            </a:r>
            <a:endParaRPr lang="en-US" sz="1100" dirty="0"/>
          </a:p>
          <a:p>
            <a:pPr marL="0" indent="0">
              <a:lnSpc>
                <a:spcPct val="130000"/>
              </a:lnSpc>
              <a:buNone/>
            </a:pPr>
            <a:endParaRPr lang="en-US" sz="1100" dirty="0"/>
          </a:p>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INCI risk mapping: restricted ingredient count</a:t>
            </a:r>
            <a:endParaRPr lang="en-US" sz="1100" dirty="0"/>
          </a:p>
        </p:txBody>
      </p:sp>
      <p:sp>
        <p:nvSpPr>
          <p:cNvPr id="11" name="Shape 9"/>
          <p:cNvSpPr/>
          <p:nvPr/>
        </p:nvSpPr>
        <p:spPr>
          <a:xfrm>
            <a:off x="6126480" y="1143000"/>
            <a:ext cx="2560320" cy="2514600"/>
          </a:xfrm>
          <a:prstGeom prst="rect">
            <a:avLst/>
          </a:prstGeom>
          <a:solidFill>
            <a:srgbClr val="E8EEEA"/>
          </a:solidFill>
          <a:ln/>
        </p:spPr>
        <p:txBody>
          <a:bodyPr/>
          <a:lstStyle/>
          <a:p>
            <a:endParaRPr lang="en-US"/>
          </a:p>
        </p:txBody>
      </p:sp>
      <p:sp>
        <p:nvSpPr>
          <p:cNvPr id="12" name="Text 10"/>
          <p:cNvSpPr/>
          <p:nvPr/>
        </p:nvSpPr>
        <p:spPr>
          <a:xfrm>
            <a:off x="6355080" y="1252728"/>
            <a:ext cx="2103120" cy="274320"/>
          </a:xfrm>
          <a:prstGeom prst="rect">
            <a:avLst/>
          </a:prstGeom>
          <a:noFill/>
          <a:ln/>
        </p:spPr>
        <p:txBody>
          <a:bodyPr wrap="square" lIns="0" tIns="0" rIns="0" bIns="0" rtlCol="0" anchor="ctr"/>
          <a:lstStyle/>
          <a:p>
            <a:pPr marL="0" indent="0">
              <a:buNone/>
            </a:pPr>
            <a:r>
              <a:rPr lang="en-US" sz="1300" dirty="0">
                <a:solidFill>
                  <a:srgbClr val="2D4A3E"/>
                </a:solidFill>
                <a:latin typeface="Georgia" pitchFamily="34" charset="0"/>
                <a:ea typeface="Georgia" pitchFamily="34" charset="-122"/>
                <a:cs typeface="Georgia" pitchFamily="34" charset="-120"/>
              </a:rPr>
              <a:t>NLP features</a:t>
            </a:r>
            <a:endParaRPr lang="en-US" sz="1300" dirty="0"/>
          </a:p>
        </p:txBody>
      </p:sp>
      <p:sp>
        <p:nvSpPr>
          <p:cNvPr id="13" name="Text 11"/>
          <p:cNvSpPr/>
          <p:nvPr/>
        </p:nvSpPr>
        <p:spPr>
          <a:xfrm>
            <a:off x="6355080" y="1645920"/>
            <a:ext cx="2103120" cy="1828800"/>
          </a:xfrm>
          <a:prstGeom prst="rect">
            <a:avLst/>
          </a:prstGeom>
          <a:noFill/>
          <a:ln/>
        </p:spPr>
        <p:txBody>
          <a:bodyPr wrap="square" lIns="0" tIns="0" rIns="0" bIns="0" rtlCol="0" anchor="ctr"/>
          <a:lstStyle/>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TF-IDF: 5,000 features, unigrams + bigrams, fitted on training data only</a:t>
            </a:r>
            <a:endParaRPr lang="en-US" sz="1100" dirty="0"/>
          </a:p>
          <a:p>
            <a:pPr marL="0" indent="0">
              <a:lnSpc>
                <a:spcPct val="130000"/>
              </a:lnSpc>
              <a:buNone/>
            </a:pPr>
            <a:endParaRPr lang="en-US" sz="1100" dirty="0"/>
          </a:p>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VADER sentiment: compound, positive, and negative scores per review</a:t>
            </a:r>
            <a:endParaRPr lang="en-US" sz="1100" dirty="0"/>
          </a:p>
          <a:p>
            <a:pPr marL="0" indent="0">
              <a:lnSpc>
                <a:spcPct val="130000"/>
              </a:lnSpc>
              <a:buNone/>
            </a:pPr>
            <a:endParaRPr lang="en-US" sz="1100" dirty="0"/>
          </a:p>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CountVectorizer lift analysis for discriminative n-grams</a:t>
            </a:r>
            <a:endParaRPr lang="en-US" sz="1100" dirty="0"/>
          </a:p>
        </p:txBody>
      </p:sp>
      <p:sp>
        <p:nvSpPr>
          <p:cNvPr id="14" name="Shape 12"/>
          <p:cNvSpPr/>
          <p:nvPr/>
        </p:nvSpPr>
        <p:spPr>
          <a:xfrm>
            <a:off x="640080" y="3840480"/>
            <a:ext cx="4023360" cy="960120"/>
          </a:xfrm>
          <a:prstGeom prst="rect">
            <a:avLst/>
          </a:prstGeom>
          <a:solidFill>
            <a:srgbClr val="FFFFFF"/>
          </a:solidFill>
          <a:ln/>
        </p:spPr>
        <p:txBody>
          <a:bodyPr/>
          <a:lstStyle/>
          <a:p>
            <a:endParaRPr lang="en-US"/>
          </a:p>
        </p:txBody>
      </p:sp>
      <p:sp>
        <p:nvSpPr>
          <p:cNvPr id="15" name="Text 13"/>
          <p:cNvSpPr/>
          <p:nvPr/>
        </p:nvSpPr>
        <p:spPr>
          <a:xfrm>
            <a:off x="868680" y="3913632"/>
            <a:ext cx="1828800" cy="182880"/>
          </a:xfrm>
          <a:prstGeom prst="rect">
            <a:avLst/>
          </a:prstGeom>
          <a:noFill/>
          <a:ln/>
        </p:spPr>
        <p:txBody>
          <a:bodyPr wrap="square" lIns="0" tIns="0" rIns="0" bIns="0" rtlCol="0" anchor="ctr"/>
          <a:lstStyle/>
          <a:p>
            <a:pPr marL="0" indent="0">
              <a:buNone/>
            </a:pPr>
            <a:r>
              <a:rPr lang="en-US" sz="1000" kern="0" spc="200" dirty="0">
                <a:solidFill>
                  <a:srgbClr val="7A8A80"/>
                </a:solidFill>
                <a:latin typeface="Calibri" pitchFamily="34" charset="0"/>
                <a:ea typeface="Calibri" pitchFamily="34" charset="-122"/>
                <a:cs typeface="Calibri" pitchFamily="34" charset="-120"/>
              </a:rPr>
              <a:t>TARGET VARIABLE</a:t>
            </a:r>
            <a:endParaRPr lang="en-US" sz="1000" dirty="0"/>
          </a:p>
        </p:txBody>
      </p:sp>
      <p:sp>
        <p:nvSpPr>
          <p:cNvPr id="16" name="Text 14"/>
          <p:cNvSpPr/>
          <p:nvPr/>
        </p:nvSpPr>
        <p:spPr>
          <a:xfrm>
            <a:off x="868680" y="4133088"/>
            <a:ext cx="3566160" cy="502920"/>
          </a:xfrm>
          <a:prstGeom prst="rect">
            <a:avLst/>
          </a:prstGeom>
          <a:noFill/>
          <a:ln/>
        </p:spPr>
        <p:txBody>
          <a:bodyPr wrap="square" lIns="0" tIns="0" rIns="0" bIns="0" rtlCol="0" anchor="ctr"/>
          <a:lstStyle/>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irritation_flag (binary) from keywords: rash, burn, itch, irritation, allergy, breakout, redness</a:t>
            </a:r>
            <a:endParaRPr lang="en-US" sz="1100" dirty="0"/>
          </a:p>
        </p:txBody>
      </p:sp>
      <p:sp>
        <p:nvSpPr>
          <p:cNvPr id="17" name="Shape 15"/>
          <p:cNvSpPr/>
          <p:nvPr/>
        </p:nvSpPr>
        <p:spPr>
          <a:xfrm>
            <a:off x="4846320" y="3840480"/>
            <a:ext cx="3840480" cy="960120"/>
          </a:xfrm>
          <a:prstGeom prst="rect">
            <a:avLst/>
          </a:prstGeom>
          <a:solidFill>
            <a:srgbClr val="FFFFFF"/>
          </a:solidFill>
          <a:ln/>
        </p:spPr>
        <p:txBody>
          <a:bodyPr/>
          <a:lstStyle/>
          <a:p>
            <a:endParaRPr lang="en-US"/>
          </a:p>
        </p:txBody>
      </p:sp>
      <p:sp>
        <p:nvSpPr>
          <p:cNvPr id="18" name="Text 16"/>
          <p:cNvSpPr/>
          <p:nvPr/>
        </p:nvSpPr>
        <p:spPr>
          <a:xfrm>
            <a:off x="5074920" y="3913632"/>
            <a:ext cx="1828800" cy="182880"/>
          </a:xfrm>
          <a:prstGeom prst="rect">
            <a:avLst/>
          </a:prstGeom>
          <a:noFill/>
          <a:ln/>
        </p:spPr>
        <p:txBody>
          <a:bodyPr wrap="square" lIns="0" tIns="0" rIns="0" bIns="0" rtlCol="0" anchor="ctr"/>
          <a:lstStyle/>
          <a:p>
            <a:pPr marL="0" indent="0">
              <a:buNone/>
            </a:pPr>
            <a:r>
              <a:rPr lang="en-US" sz="1000" kern="0" spc="200" dirty="0">
                <a:solidFill>
                  <a:srgbClr val="7A8A80"/>
                </a:solidFill>
                <a:latin typeface="Calibri" pitchFamily="34" charset="0"/>
                <a:ea typeface="Calibri" pitchFamily="34" charset="-122"/>
                <a:cs typeface="Calibri" pitchFamily="34" charset="-120"/>
              </a:rPr>
              <a:t>CLASS BALANCING</a:t>
            </a:r>
            <a:endParaRPr lang="en-US" sz="1000" dirty="0"/>
          </a:p>
        </p:txBody>
      </p:sp>
      <p:sp>
        <p:nvSpPr>
          <p:cNvPr id="19" name="Text 17"/>
          <p:cNvSpPr/>
          <p:nvPr/>
        </p:nvSpPr>
        <p:spPr>
          <a:xfrm>
            <a:off x="5074920" y="4133088"/>
            <a:ext cx="3383280" cy="502920"/>
          </a:xfrm>
          <a:prstGeom prst="rect">
            <a:avLst/>
          </a:prstGeom>
          <a:noFill/>
          <a:ln/>
        </p:spPr>
        <p:txBody>
          <a:bodyPr wrap="square" lIns="0" tIns="0" rIns="0" bIns="0" rtlCol="0" anchor="ctr"/>
          <a:lstStyle/>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Random undersampling: 106,846 samples per class (213,692 total). Identical performance to class weighting but 4× faster with TF-IDF.</a:t>
            </a:r>
            <a:endParaRPr lang="en-US" sz="1100" dirty="0"/>
          </a:p>
        </p:txBody>
      </p:sp>
      <p:sp>
        <p:nvSpPr>
          <p:cNvPr id="20" name="Text 18"/>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7A8A80"/>
                </a:solidFill>
                <a:latin typeface="Calibri" pitchFamily="34" charset="0"/>
                <a:ea typeface="Calibri" pitchFamily="34" charset="-122"/>
                <a:cs typeface="Calibri" pitchFamily="34" charset="-120"/>
              </a:rPr>
              <a:t>4</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4572000" cy="22860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EXPLORATORY DATA ANALYSIS</a:t>
            </a:r>
            <a:endParaRPr lang="en-US" sz="1000" dirty="0"/>
          </a:p>
        </p:txBody>
      </p:sp>
      <p:sp>
        <p:nvSpPr>
          <p:cNvPr id="3" name="Text 1"/>
          <p:cNvSpPr/>
          <p:nvPr/>
        </p:nvSpPr>
        <p:spPr>
          <a:xfrm>
            <a:off x="640080" y="685800"/>
            <a:ext cx="7315200" cy="411480"/>
          </a:xfrm>
          <a:prstGeom prst="rect">
            <a:avLst/>
          </a:prstGeom>
          <a:noFill/>
          <a:ln/>
        </p:spPr>
        <p:txBody>
          <a:bodyPr wrap="square" lIns="0" tIns="0" rIns="0" bIns="0" rtlCol="0" anchor="ctr"/>
          <a:lstStyle/>
          <a:p>
            <a:pPr marL="0" indent="0">
              <a:buNone/>
            </a:pPr>
            <a:r>
              <a:rPr lang="en-US" sz="2400" dirty="0">
                <a:solidFill>
                  <a:srgbClr val="1A1A1A"/>
                </a:solidFill>
                <a:latin typeface="Georgia" pitchFamily="34" charset="0"/>
                <a:ea typeface="Georgia" pitchFamily="34" charset="-122"/>
                <a:cs typeface="Georgia" pitchFamily="34" charset="-120"/>
              </a:rPr>
              <a:t>What the data revealed</a:t>
            </a:r>
            <a:endParaRPr lang="en-US" sz="2400" dirty="0"/>
          </a:p>
        </p:txBody>
      </p:sp>
      <p:sp>
        <p:nvSpPr>
          <p:cNvPr id="4" name="Text 2"/>
          <p:cNvSpPr/>
          <p:nvPr/>
        </p:nvSpPr>
        <p:spPr>
          <a:xfrm>
            <a:off x="1817370" y="1152413"/>
            <a:ext cx="2286000" cy="594360"/>
          </a:xfrm>
          <a:prstGeom prst="rect">
            <a:avLst/>
          </a:prstGeom>
          <a:noFill/>
          <a:ln/>
        </p:spPr>
        <p:txBody>
          <a:bodyPr wrap="square" lIns="0" tIns="0" rIns="0" bIns="0" rtlCol="0" anchor="ctr"/>
          <a:lstStyle/>
          <a:p>
            <a:pPr marL="0" indent="0">
              <a:buNone/>
            </a:pPr>
            <a:r>
              <a:rPr lang="en-US" sz="4000" b="1" dirty="0">
                <a:solidFill>
                  <a:srgbClr val="2D4A3E"/>
                </a:solidFill>
                <a:latin typeface="Georgia" pitchFamily="34" charset="0"/>
                <a:ea typeface="Georgia" pitchFamily="34" charset="-122"/>
                <a:cs typeface="Georgia" pitchFamily="34" charset="-120"/>
              </a:rPr>
              <a:t>87.8%</a:t>
            </a:r>
            <a:endParaRPr lang="en-US" sz="4000" dirty="0"/>
          </a:p>
        </p:txBody>
      </p:sp>
      <p:sp>
        <p:nvSpPr>
          <p:cNvPr id="5" name="Text 3"/>
          <p:cNvSpPr/>
          <p:nvPr/>
        </p:nvSpPr>
        <p:spPr>
          <a:xfrm>
            <a:off x="1817370" y="1764075"/>
            <a:ext cx="2286000" cy="228600"/>
          </a:xfrm>
          <a:prstGeom prst="rect">
            <a:avLst/>
          </a:prstGeom>
          <a:noFill/>
          <a:ln/>
        </p:spPr>
        <p:txBody>
          <a:bodyPr wrap="square" lIns="0" tIns="0" rIns="0" bIns="0" rtlCol="0" anchor="ctr"/>
          <a:lstStyle/>
          <a:p>
            <a:pPr marL="0" indent="0">
              <a:buNone/>
            </a:pPr>
            <a:r>
              <a:rPr lang="en-US" sz="1200" dirty="0">
                <a:solidFill>
                  <a:srgbClr val="7A8A80"/>
                </a:solidFill>
                <a:latin typeface="Calibri" pitchFamily="34" charset="0"/>
                <a:ea typeface="Calibri" pitchFamily="34" charset="-122"/>
                <a:cs typeface="Calibri" pitchFamily="34" charset="-120"/>
              </a:rPr>
              <a:t>no irritation</a:t>
            </a:r>
            <a:endParaRPr lang="en-US" sz="1200" dirty="0"/>
          </a:p>
        </p:txBody>
      </p:sp>
      <p:sp>
        <p:nvSpPr>
          <p:cNvPr id="6" name="Text 4"/>
          <p:cNvSpPr/>
          <p:nvPr/>
        </p:nvSpPr>
        <p:spPr>
          <a:xfrm>
            <a:off x="4434840" y="1371600"/>
            <a:ext cx="457200" cy="320040"/>
          </a:xfrm>
          <a:prstGeom prst="rect">
            <a:avLst/>
          </a:prstGeom>
          <a:noFill/>
          <a:ln/>
        </p:spPr>
        <p:txBody>
          <a:bodyPr wrap="square" lIns="0" tIns="0" rIns="0" bIns="0" rtlCol="0" anchor="ctr"/>
          <a:lstStyle/>
          <a:p>
            <a:pPr marL="0" indent="0" algn="ctr">
              <a:buNone/>
            </a:pPr>
            <a:r>
              <a:rPr lang="en-US" sz="1400" i="1" dirty="0">
                <a:solidFill>
                  <a:srgbClr val="B8C9BC"/>
                </a:solidFill>
                <a:latin typeface="Georgia" pitchFamily="34" charset="0"/>
                <a:ea typeface="Georgia" pitchFamily="34" charset="-122"/>
                <a:cs typeface="Georgia" pitchFamily="34" charset="-120"/>
              </a:rPr>
              <a:t>vs</a:t>
            </a:r>
            <a:endParaRPr lang="en-US" sz="1400" dirty="0"/>
          </a:p>
        </p:txBody>
      </p:sp>
      <p:sp>
        <p:nvSpPr>
          <p:cNvPr id="7" name="Text 5"/>
          <p:cNvSpPr/>
          <p:nvPr/>
        </p:nvSpPr>
        <p:spPr>
          <a:xfrm>
            <a:off x="5600700" y="1152413"/>
            <a:ext cx="2286000" cy="594360"/>
          </a:xfrm>
          <a:prstGeom prst="rect">
            <a:avLst/>
          </a:prstGeom>
          <a:noFill/>
          <a:ln/>
        </p:spPr>
        <p:txBody>
          <a:bodyPr wrap="square" lIns="0" tIns="0" rIns="0" bIns="0" rtlCol="0" anchor="ctr"/>
          <a:lstStyle/>
          <a:p>
            <a:pPr marL="0" indent="0">
              <a:buNone/>
            </a:pPr>
            <a:r>
              <a:rPr lang="en-US" sz="4000" b="1" dirty="0">
                <a:solidFill>
                  <a:srgbClr val="C2703E"/>
                </a:solidFill>
                <a:latin typeface="Georgia" pitchFamily="34" charset="0"/>
                <a:ea typeface="Georgia" pitchFamily="34" charset="-122"/>
                <a:cs typeface="Georgia" pitchFamily="34" charset="-120"/>
              </a:rPr>
              <a:t>12.2%</a:t>
            </a:r>
            <a:endParaRPr lang="en-US" sz="4000" dirty="0"/>
          </a:p>
        </p:txBody>
      </p:sp>
      <p:sp>
        <p:nvSpPr>
          <p:cNvPr id="8" name="Text 6"/>
          <p:cNvSpPr/>
          <p:nvPr/>
        </p:nvSpPr>
        <p:spPr>
          <a:xfrm>
            <a:off x="5669280" y="1764075"/>
            <a:ext cx="2286000" cy="228600"/>
          </a:xfrm>
          <a:prstGeom prst="rect">
            <a:avLst/>
          </a:prstGeom>
          <a:noFill/>
          <a:ln/>
        </p:spPr>
        <p:txBody>
          <a:bodyPr wrap="square" lIns="0" tIns="0" rIns="0" bIns="0" rtlCol="0" anchor="ctr"/>
          <a:lstStyle/>
          <a:p>
            <a:pPr marL="0" indent="0">
              <a:buNone/>
            </a:pPr>
            <a:r>
              <a:rPr lang="en-US" sz="1200" dirty="0">
                <a:solidFill>
                  <a:srgbClr val="7A8A80"/>
                </a:solidFill>
                <a:latin typeface="Calibri" pitchFamily="34" charset="0"/>
                <a:ea typeface="Calibri" pitchFamily="34" charset="-122"/>
                <a:cs typeface="Calibri" pitchFamily="34" charset="-120"/>
              </a:rPr>
              <a:t>irritation flagged</a:t>
            </a:r>
            <a:endParaRPr lang="en-US" sz="1200" dirty="0"/>
          </a:p>
        </p:txBody>
      </p:sp>
      <p:sp>
        <p:nvSpPr>
          <p:cNvPr id="9" name="Text 7"/>
          <p:cNvSpPr/>
          <p:nvPr/>
        </p:nvSpPr>
        <p:spPr>
          <a:xfrm>
            <a:off x="5669280" y="2013966"/>
            <a:ext cx="2743200" cy="182880"/>
          </a:xfrm>
          <a:prstGeom prst="rect">
            <a:avLst/>
          </a:prstGeom>
          <a:noFill/>
          <a:ln/>
        </p:spPr>
        <p:txBody>
          <a:bodyPr wrap="square" lIns="0" tIns="0" rIns="0" bIns="0" rtlCol="0" anchor="ctr"/>
          <a:lstStyle/>
          <a:p>
            <a:pPr marL="0" indent="0">
              <a:buNone/>
            </a:pPr>
            <a:r>
              <a:rPr lang="en-US" sz="1100" i="1" dirty="0">
                <a:solidFill>
                  <a:srgbClr val="545655"/>
                </a:solidFill>
                <a:latin typeface="Calibri" pitchFamily="34" charset="0"/>
                <a:ea typeface="Calibri" pitchFamily="34" charset="-122"/>
                <a:cs typeface="Calibri" pitchFamily="34" charset="-120"/>
              </a:rPr>
              <a:t>7.3:1 imbalance  ·  133K of 1.09M reviews</a:t>
            </a:r>
            <a:endParaRPr lang="en-US" sz="1100" dirty="0">
              <a:solidFill>
                <a:srgbClr val="545655"/>
              </a:solidFill>
            </a:endParaRPr>
          </a:p>
        </p:txBody>
      </p:sp>
      <p:sp>
        <p:nvSpPr>
          <p:cNvPr id="10" name="Shape 8"/>
          <p:cNvSpPr/>
          <p:nvPr/>
        </p:nvSpPr>
        <p:spPr>
          <a:xfrm>
            <a:off x="640080" y="2377440"/>
            <a:ext cx="8046720" cy="4572"/>
          </a:xfrm>
          <a:prstGeom prst="rect">
            <a:avLst/>
          </a:prstGeom>
          <a:solidFill>
            <a:srgbClr val="B8C9BC"/>
          </a:solidFill>
          <a:ln/>
        </p:spPr>
        <p:txBody>
          <a:bodyPr/>
          <a:lstStyle/>
          <a:p>
            <a:endParaRPr lang="en-US"/>
          </a:p>
        </p:txBody>
      </p:sp>
      <p:sp>
        <p:nvSpPr>
          <p:cNvPr id="11" name="Shape 9"/>
          <p:cNvSpPr/>
          <p:nvPr/>
        </p:nvSpPr>
        <p:spPr>
          <a:xfrm>
            <a:off x="640080" y="2560320"/>
            <a:ext cx="8046720" cy="1051560"/>
          </a:xfrm>
          <a:prstGeom prst="rect">
            <a:avLst/>
          </a:prstGeom>
          <a:solidFill>
            <a:srgbClr val="F9EDE3"/>
          </a:solidFill>
          <a:ln/>
        </p:spPr>
        <p:txBody>
          <a:bodyPr/>
          <a:lstStyle/>
          <a:p>
            <a:endParaRPr lang="en-US"/>
          </a:p>
        </p:txBody>
      </p:sp>
      <p:sp>
        <p:nvSpPr>
          <p:cNvPr id="12" name="Text 10"/>
          <p:cNvSpPr/>
          <p:nvPr/>
        </p:nvSpPr>
        <p:spPr>
          <a:xfrm>
            <a:off x="914400" y="2651760"/>
            <a:ext cx="7498080" cy="274320"/>
          </a:xfrm>
          <a:prstGeom prst="rect">
            <a:avLst/>
          </a:prstGeom>
          <a:noFill/>
          <a:ln/>
        </p:spPr>
        <p:txBody>
          <a:bodyPr wrap="square" lIns="0" tIns="0" rIns="0" bIns="0" rtlCol="0" anchor="ctr"/>
          <a:lstStyle/>
          <a:p>
            <a:pPr marL="0" indent="0">
              <a:buNone/>
            </a:pPr>
            <a:r>
              <a:rPr lang="en-US" sz="1300" b="1" dirty="0">
                <a:solidFill>
                  <a:srgbClr val="C2703E"/>
                </a:solidFill>
                <a:latin typeface="Georgia" pitchFamily="34" charset="0"/>
                <a:ea typeface="Georgia" pitchFamily="34" charset="-122"/>
                <a:cs typeface="Georgia" pitchFamily="34" charset="-120"/>
              </a:rPr>
              <a:t>Critical finding: Structural features alone are not enough</a:t>
            </a:r>
            <a:endParaRPr lang="en-US" sz="1300" dirty="0"/>
          </a:p>
        </p:txBody>
      </p:sp>
      <p:sp>
        <p:nvSpPr>
          <p:cNvPr id="13" name="Text 11"/>
          <p:cNvSpPr/>
          <p:nvPr/>
        </p:nvSpPr>
        <p:spPr>
          <a:xfrm>
            <a:off x="914400" y="2971800"/>
            <a:ext cx="7498080" cy="548640"/>
          </a:xfrm>
          <a:prstGeom prst="rect">
            <a:avLst/>
          </a:prstGeom>
          <a:noFill/>
          <a:ln/>
        </p:spPr>
        <p:txBody>
          <a:bodyPr wrap="square" lIns="0" tIns="0" rIns="0" bIns="0" rtlCol="0" anchor="ctr"/>
          <a:lstStyle/>
          <a:p>
            <a:pPr marL="0" indent="0">
              <a:lnSpc>
                <a:spcPct val="135000"/>
              </a:lnSpc>
              <a:buNone/>
            </a:pPr>
            <a:r>
              <a:rPr lang="en-US" sz="1100" dirty="0">
                <a:solidFill>
                  <a:srgbClr val="1A1A1A"/>
                </a:solidFill>
                <a:latin typeface="Calibri" pitchFamily="34" charset="0"/>
                <a:ea typeface="Calibri" pitchFamily="34" charset="-122"/>
                <a:cs typeface="Calibri" pitchFamily="34" charset="-120"/>
              </a:rPr>
              <a:t>All three imbalance strategies produced ROC-AUC 0.74–0.76 on structural features alone (interactions, toxicity, sentiment). Meaningful improvement over the original 0.57, but still far from sufficient without text features.</a:t>
            </a:r>
            <a:endParaRPr lang="en-US" sz="1100" dirty="0"/>
          </a:p>
        </p:txBody>
      </p:sp>
      <p:sp>
        <p:nvSpPr>
          <p:cNvPr id="14" name="Shape 12"/>
          <p:cNvSpPr/>
          <p:nvPr/>
        </p:nvSpPr>
        <p:spPr>
          <a:xfrm>
            <a:off x="640080" y="3794760"/>
            <a:ext cx="3886200" cy="1005840"/>
          </a:xfrm>
          <a:prstGeom prst="rect">
            <a:avLst/>
          </a:prstGeom>
          <a:solidFill>
            <a:srgbClr val="E8EEEA"/>
          </a:solidFill>
          <a:ln/>
        </p:spPr>
        <p:txBody>
          <a:bodyPr/>
          <a:lstStyle/>
          <a:p>
            <a:endParaRPr lang="en-US"/>
          </a:p>
        </p:txBody>
      </p:sp>
      <p:sp>
        <p:nvSpPr>
          <p:cNvPr id="15" name="Text 13"/>
          <p:cNvSpPr/>
          <p:nvPr/>
        </p:nvSpPr>
        <p:spPr>
          <a:xfrm>
            <a:off x="868680" y="3886200"/>
            <a:ext cx="3383280" cy="228600"/>
          </a:xfrm>
          <a:prstGeom prst="rect">
            <a:avLst/>
          </a:prstGeom>
          <a:noFill/>
          <a:ln/>
        </p:spPr>
        <p:txBody>
          <a:bodyPr wrap="square" lIns="0" tIns="0" rIns="0" bIns="0" rtlCol="0" anchor="ctr"/>
          <a:lstStyle/>
          <a:p>
            <a:pPr marL="0" indent="0">
              <a:buNone/>
            </a:pPr>
            <a:r>
              <a:rPr lang="en-US" sz="1200" b="1" dirty="0">
                <a:solidFill>
                  <a:srgbClr val="2D4A3E"/>
                </a:solidFill>
                <a:latin typeface="Georgia" pitchFamily="34" charset="0"/>
                <a:ea typeface="Georgia" pitchFamily="34" charset="-122"/>
                <a:cs typeface="Georgia" pitchFamily="34" charset="-120"/>
              </a:rPr>
              <a:t>Fragrance paradox</a:t>
            </a:r>
            <a:endParaRPr lang="en-US" sz="1200" dirty="0"/>
          </a:p>
        </p:txBody>
      </p:sp>
      <p:sp>
        <p:nvSpPr>
          <p:cNvPr id="16" name="Text 14"/>
          <p:cNvSpPr/>
          <p:nvPr/>
        </p:nvSpPr>
        <p:spPr>
          <a:xfrm>
            <a:off x="868680" y="4133088"/>
            <a:ext cx="3383280" cy="548640"/>
          </a:xfrm>
          <a:prstGeom prst="rect">
            <a:avLst/>
          </a:prstGeom>
          <a:noFill/>
          <a:ln/>
        </p:spPr>
        <p:txBody>
          <a:bodyPr wrap="square" lIns="0" tIns="0" rIns="0" bIns="0" rtlCol="0" anchor="ctr"/>
          <a:lstStyle/>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Products WITHOUT fragrance had higher irritation rates (13.5%) than those WITH (9.5%). Ingredient flags alone miss the full picture.</a:t>
            </a:r>
            <a:endParaRPr lang="en-US" sz="1100" dirty="0"/>
          </a:p>
        </p:txBody>
      </p:sp>
      <p:sp>
        <p:nvSpPr>
          <p:cNvPr id="17" name="Shape 15"/>
          <p:cNvSpPr/>
          <p:nvPr/>
        </p:nvSpPr>
        <p:spPr>
          <a:xfrm>
            <a:off x="4800600" y="3794760"/>
            <a:ext cx="3886200" cy="1005840"/>
          </a:xfrm>
          <a:prstGeom prst="rect">
            <a:avLst/>
          </a:prstGeom>
          <a:solidFill>
            <a:srgbClr val="E8EEEA"/>
          </a:solidFill>
          <a:ln/>
        </p:spPr>
        <p:txBody>
          <a:bodyPr/>
          <a:lstStyle/>
          <a:p>
            <a:endParaRPr lang="en-US"/>
          </a:p>
        </p:txBody>
      </p:sp>
      <p:sp>
        <p:nvSpPr>
          <p:cNvPr id="18" name="Text 16"/>
          <p:cNvSpPr/>
          <p:nvPr/>
        </p:nvSpPr>
        <p:spPr>
          <a:xfrm>
            <a:off x="5029200" y="3886200"/>
            <a:ext cx="3383280" cy="228600"/>
          </a:xfrm>
          <a:prstGeom prst="rect">
            <a:avLst/>
          </a:prstGeom>
          <a:noFill/>
          <a:ln/>
        </p:spPr>
        <p:txBody>
          <a:bodyPr wrap="square" lIns="0" tIns="0" rIns="0" bIns="0" rtlCol="0" anchor="ctr"/>
          <a:lstStyle/>
          <a:p>
            <a:pPr marL="0" indent="0">
              <a:buNone/>
            </a:pPr>
            <a:r>
              <a:rPr lang="en-US" sz="1200" b="1" dirty="0">
                <a:solidFill>
                  <a:srgbClr val="2D4A3E"/>
                </a:solidFill>
                <a:latin typeface="Georgia" pitchFamily="34" charset="0"/>
                <a:ea typeface="Georgia" pitchFamily="34" charset="-122"/>
                <a:cs typeface="Georgia" pitchFamily="34" charset="-120"/>
              </a:rPr>
              <a:t>Skin type matters</a:t>
            </a:r>
            <a:endParaRPr lang="en-US" sz="1200" dirty="0"/>
          </a:p>
        </p:txBody>
      </p:sp>
      <p:sp>
        <p:nvSpPr>
          <p:cNvPr id="19" name="Text 17"/>
          <p:cNvSpPr/>
          <p:nvPr/>
        </p:nvSpPr>
        <p:spPr>
          <a:xfrm>
            <a:off x="5029200" y="4133088"/>
            <a:ext cx="3383280" cy="548640"/>
          </a:xfrm>
          <a:prstGeom prst="rect">
            <a:avLst/>
          </a:prstGeom>
          <a:noFill/>
          <a:ln/>
        </p:spPr>
        <p:txBody>
          <a:bodyPr wrap="square" lIns="0" tIns="0" rIns="0" bIns="0" rtlCol="0" anchor="ctr"/>
          <a:lstStyle/>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Users who disclose skin type are less likely to report irritation. Unknown skin type had the highest irritation rate (13.4%).</a:t>
            </a:r>
            <a:endParaRPr lang="en-US" sz="1100" dirty="0"/>
          </a:p>
        </p:txBody>
      </p:sp>
      <p:sp>
        <p:nvSpPr>
          <p:cNvPr id="20" name="Text 18"/>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7A8A80"/>
                </a:solidFill>
                <a:latin typeface="Calibri" pitchFamily="34" charset="0"/>
                <a:ea typeface="Calibri" pitchFamily="34" charset="-122"/>
                <a:cs typeface="Calibri" pitchFamily="34" charset="-120"/>
              </a:rPr>
              <a:t>5</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D"/>
        </a:solidFill>
        <a:effectLst/>
      </p:bgPr>
    </p:bg>
    <p:spTree>
      <p:nvGrpSpPr>
        <p:cNvPr id="1" name=""/>
        <p:cNvGrpSpPr/>
        <p:nvPr/>
      </p:nvGrpSpPr>
      <p:grpSpPr>
        <a:xfrm>
          <a:off x="0" y="0"/>
          <a:ext cx="0" cy="0"/>
          <a:chOff x="0" y="0"/>
          <a:chExt cx="0" cy="0"/>
        </a:xfrm>
      </p:grpSpPr>
      <p:sp>
        <p:nvSpPr>
          <p:cNvPr id="2" name="Text 0"/>
          <p:cNvSpPr/>
          <p:nvPr/>
        </p:nvSpPr>
        <p:spPr>
          <a:xfrm>
            <a:off x="640080" y="128016"/>
            <a:ext cx="4572000" cy="22860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NLP &amp; FEATURE ANALYSIS</a:t>
            </a:r>
            <a:endParaRPr lang="en-US" sz="1000" dirty="0"/>
          </a:p>
        </p:txBody>
      </p:sp>
      <p:sp>
        <p:nvSpPr>
          <p:cNvPr id="3" name="Text 1"/>
          <p:cNvSpPr/>
          <p:nvPr/>
        </p:nvSpPr>
        <p:spPr>
          <a:xfrm>
            <a:off x="640080" y="339305"/>
            <a:ext cx="7315200" cy="411480"/>
          </a:xfrm>
          <a:prstGeom prst="rect">
            <a:avLst/>
          </a:prstGeom>
          <a:noFill/>
          <a:ln/>
        </p:spPr>
        <p:txBody>
          <a:bodyPr wrap="square" lIns="0" tIns="0" rIns="0" bIns="0" rtlCol="0" anchor="ctr"/>
          <a:lstStyle/>
          <a:p>
            <a:pPr marL="0" indent="0">
              <a:buNone/>
            </a:pPr>
            <a:r>
              <a:rPr lang="en-US" sz="2400" dirty="0">
                <a:solidFill>
                  <a:srgbClr val="1A1A1A"/>
                </a:solidFill>
                <a:latin typeface="Georgia" pitchFamily="34" charset="0"/>
                <a:ea typeface="Georgia" pitchFamily="34" charset="-122"/>
                <a:cs typeface="Georgia" pitchFamily="34" charset="-120"/>
              </a:rPr>
              <a:t>The transformation that changed everything</a:t>
            </a:r>
            <a:endParaRPr lang="en-US" sz="2400" dirty="0"/>
          </a:p>
        </p:txBody>
      </p:sp>
      <p:sp>
        <p:nvSpPr>
          <p:cNvPr id="4" name="Shape 2"/>
          <p:cNvSpPr/>
          <p:nvPr/>
        </p:nvSpPr>
        <p:spPr>
          <a:xfrm>
            <a:off x="274320" y="859536"/>
            <a:ext cx="3840480" cy="1414741"/>
          </a:xfrm>
          <a:prstGeom prst="rect">
            <a:avLst/>
          </a:prstGeom>
          <a:solidFill>
            <a:srgbClr val="FFFFFF"/>
          </a:solidFill>
          <a:ln/>
        </p:spPr>
        <p:txBody>
          <a:bodyPr/>
          <a:lstStyle/>
          <a:p>
            <a:endParaRPr lang="en-US"/>
          </a:p>
        </p:txBody>
      </p:sp>
      <p:sp>
        <p:nvSpPr>
          <p:cNvPr id="5" name="Text 3"/>
          <p:cNvSpPr/>
          <p:nvPr/>
        </p:nvSpPr>
        <p:spPr>
          <a:xfrm>
            <a:off x="548640" y="932688"/>
            <a:ext cx="3291840" cy="182880"/>
          </a:xfrm>
          <a:prstGeom prst="rect">
            <a:avLst/>
          </a:prstGeom>
          <a:noFill/>
          <a:ln/>
        </p:spPr>
        <p:txBody>
          <a:bodyPr wrap="square" lIns="0" tIns="0" rIns="0" bIns="0" rtlCol="0" anchor="ctr"/>
          <a:lstStyle/>
          <a:p>
            <a:pPr marL="0" indent="0">
              <a:buNone/>
            </a:pPr>
            <a:r>
              <a:rPr lang="en-US" sz="1000" kern="0" spc="200" dirty="0">
                <a:solidFill>
                  <a:srgbClr val="7A8A80"/>
                </a:solidFill>
                <a:latin typeface="Calibri" pitchFamily="34" charset="0"/>
                <a:ea typeface="Calibri" pitchFamily="34" charset="-122"/>
                <a:cs typeface="Calibri" pitchFamily="34" charset="-120"/>
              </a:rPr>
              <a:t>STRUCTURAL FEATURES ONLY</a:t>
            </a:r>
            <a:endParaRPr lang="en-US" sz="1000" dirty="0"/>
          </a:p>
        </p:txBody>
      </p:sp>
      <p:sp>
        <p:nvSpPr>
          <p:cNvPr id="6" name="Text 4"/>
          <p:cNvSpPr/>
          <p:nvPr/>
        </p:nvSpPr>
        <p:spPr>
          <a:xfrm>
            <a:off x="548640" y="1179576"/>
            <a:ext cx="1371600" cy="256032"/>
          </a:xfrm>
          <a:prstGeom prst="rect">
            <a:avLst/>
          </a:prstGeom>
          <a:noFill/>
          <a:ln/>
        </p:spPr>
        <p:txBody>
          <a:bodyPr wrap="square" lIns="0" tIns="0" rIns="0" bIns="0" rtlCol="0" anchor="ctr"/>
          <a:lstStyle/>
          <a:p>
            <a:pPr marL="0" indent="0">
              <a:buNone/>
            </a:pPr>
            <a:r>
              <a:rPr lang="en-US" sz="1200" dirty="0">
                <a:solidFill>
                  <a:srgbClr val="7A8A80"/>
                </a:solidFill>
                <a:latin typeface="Calibri" pitchFamily="34" charset="0"/>
                <a:ea typeface="Calibri" pitchFamily="34" charset="-122"/>
                <a:cs typeface="Calibri" pitchFamily="34" charset="-120"/>
              </a:rPr>
              <a:t>ROC-AUC</a:t>
            </a:r>
            <a:endParaRPr lang="en-US" sz="1200" dirty="0"/>
          </a:p>
        </p:txBody>
      </p:sp>
      <p:sp>
        <p:nvSpPr>
          <p:cNvPr id="7" name="Text 5"/>
          <p:cNvSpPr/>
          <p:nvPr/>
        </p:nvSpPr>
        <p:spPr>
          <a:xfrm>
            <a:off x="2194560" y="1124712"/>
            <a:ext cx="1371600" cy="320040"/>
          </a:xfrm>
          <a:prstGeom prst="rect">
            <a:avLst/>
          </a:prstGeom>
          <a:noFill/>
          <a:ln/>
        </p:spPr>
        <p:txBody>
          <a:bodyPr wrap="square" lIns="0" tIns="0" rIns="0" bIns="0" rtlCol="0" anchor="ctr"/>
          <a:lstStyle/>
          <a:p>
            <a:pPr marL="0" indent="0" algn="r">
              <a:buNone/>
            </a:pPr>
            <a:r>
              <a:rPr lang="en-US" sz="2000" dirty="0">
                <a:solidFill>
                  <a:srgbClr val="7A8A80"/>
                </a:solidFill>
                <a:latin typeface="Georgia" pitchFamily="34" charset="0"/>
                <a:ea typeface="Georgia" pitchFamily="34" charset="-122"/>
                <a:cs typeface="Georgia" pitchFamily="34" charset="-120"/>
              </a:rPr>
              <a:t>0.76</a:t>
            </a:r>
            <a:endParaRPr lang="en-US" sz="2000" dirty="0"/>
          </a:p>
        </p:txBody>
      </p:sp>
      <p:sp>
        <p:nvSpPr>
          <p:cNvPr id="8" name="Text 6"/>
          <p:cNvSpPr/>
          <p:nvPr/>
        </p:nvSpPr>
        <p:spPr>
          <a:xfrm>
            <a:off x="548640" y="1563624"/>
            <a:ext cx="1371600" cy="256032"/>
          </a:xfrm>
          <a:prstGeom prst="rect">
            <a:avLst/>
          </a:prstGeom>
          <a:noFill/>
          <a:ln/>
        </p:spPr>
        <p:txBody>
          <a:bodyPr wrap="square" lIns="0" tIns="0" rIns="0" bIns="0" rtlCol="0" anchor="ctr"/>
          <a:lstStyle/>
          <a:p>
            <a:pPr marL="0" indent="0">
              <a:buNone/>
            </a:pPr>
            <a:r>
              <a:rPr lang="en-US" sz="1200" dirty="0">
                <a:solidFill>
                  <a:srgbClr val="7A8A80"/>
                </a:solidFill>
                <a:latin typeface="Calibri" pitchFamily="34" charset="0"/>
                <a:ea typeface="Calibri" pitchFamily="34" charset="-122"/>
                <a:cs typeface="Calibri" pitchFamily="34" charset="-120"/>
              </a:rPr>
              <a:t>F1 Score</a:t>
            </a:r>
            <a:endParaRPr lang="en-US" sz="1200" dirty="0"/>
          </a:p>
        </p:txBody>
      </p:sp>
      <p:sp>
        <p:nvSpPr>
          <p:cNvPr id="9" name="Text 7"/>
          <p:cNvSpPr/>
          <p:nvPr/>
        </p:nvSpPr>
        <p:spPr>
          <a:xfrm>
            <a:off x="2194560" y="1508760"/>
            <a:ext cx="1371600" cy="320040"/>
          </a:xfrm>
          <a:prstGeom prst="rect">
            <a:avLst/>
          </a:prstGeom>
          <a:noFill/>
          <a:ln/>
        </p:spPr>
        <p:txBody>
          <a:bodyPr wrap="square" lIns="0" tIns="0" rIns="0" bIns="0" rtlCol="0" anchor="ctr"/>
          <a:lstStyle/>
          <a:p>
            <a:pPr marL="0" indent="0" algn="r">
              <a:buNone/>
            </a:pPr>
            <a:r>
              <a:rPr lang="en-US" sz="2000" dirty="0">
                <a:solidFill>
                  <a:srgbClr val="7A8A80"/>
                </a:solidFill>
                <a:latin typeface="Georgia" pitchFamily="34" charset="0"/>
                <a:ea typeface="Georgia" pitchFamily="34" charset="-122"/>
                <a:cs typeface="Georgia" pitchFamily="34" charset="-120"/>
              </a:rPr>
              <a:t>0.33</a:t>
            </a:r>
            <a:endParaRPr lang="en-US" sz="2000" dirty="0"/>
          </a:p>
        </p:txBody>
      </p:sp>
      <p:sp>
        <p:nvSpPr>
          <p:cNvPr id="10" name="Text 8"/>
          <p:cNvSpPr/>
          <p:nvPr/>
        </p:nvSpPr>
        <p:spPr>
          <a:xfrm>
            <a:off x="548640" y="1947672"/>
            <a:ext cx="1371600" cy="256032"/>
          </a:xfrm>
          <a:prstGeom prst="rect">
            <a:avLst/>
          </a:prstGeom>
          <a:noFill/>
          <a:ln/>
        </p:spPr>
        <p:txBody>
          <a:bodyPr wrap="square" lIns="0" tIns="0" rIns="0" bIns="0" rtlCol="0" anchor="ctr"/>
          <a:lstStyle/>
          <a:p>
            <a:pPr marL="0" indent="0">
              <a:buNone/>
            </a:pPr>
            <a:r>
              <a:rPr lang="en-US" sz="1200" dirty="0">
                <a:solidFill>
                  <a:srgbClr val="7A8A80"/>
                </a:solidFill>
                <a:latin typeface="Calibri" pitchFamily="34" charset="0"/>
                <a:ea typeface="Calibri" pitchFamily="34" charset="-122"/>
                <a:cs typeface="Calibri" pitchFamily="34" charset="-120"/>
              </a:rPr>
              <a:t>Recall</a:t>
            </a:r>
            <a:endParaRPr lang="en-US" sz="1200" dirty="0"/>
          </a:p>
        </p:txBody>
      </p:sp>
      <p:sp>
        <p:nvSpPr>
          <p:cNvPr id="11" name="Text 9"/>
          <p:cNvSpPr/>
          <p:nvPr/>
        </p:nvSpPr>
        <p:spPr>
          <a:xfrm>
            <a:off x="2194560" y="1892808"/>
            <a:ext cx="1371600" cy="320040"/>
          </a:xfrm>
          <a:prstGeom prst="rect">
            <a:avLst/>
          </a:prstGeom>
          <a:noFill/>
          <a:ln/>
        </p:spPr>
        <p:txBody>
          <a:bodyPr wrap="square" lIns="0" tIns="0" rIns="0" bIns="0" rtlCol="0" anchor="ctr"/>
          <a:lstStyle/>
          <a:p>
            <a:pPr marL="0" indent="0" algn="r">
              <a:buNone/>
            </a:pPr>
            <a:r>
              <a:rPr lang="en-US" sz="2000" dirty="0">
                <a:solidFill>
                  <a:srgbClr val="7A8A80"/>
                </a:solidFill>
                <a:latin typeface="Georgia" pitchFamily="34" charset="0"/>
                <a:ea typeface="Georgia" pitchFamily="34" charset="-122"/>
                <a:cs typeface="Georgia" pitchFamily="34" charset="-120"/>
              </a:rPr>
              <a:t>0.70</a:t>
            </a:r>
            <a:endParaRPr lang="en-US" sz="2000" dirty="0"/>
          </a:p>
        </p:txBody>
      </p:sp>
      <p:pic>
        <p:nvPicPr>
          <p:cNvPr id="12" name="Image 0" descr="preencoded.png"/>
          <p:cNvPicPr>
            <a:picLocks noChangeAspect="1"/>
          </p:cNvPicPr>
          <p:nvPr/>
        </p:nvPicPr>
        <p:blipFill>
          <a:blip r:embed="rId3"/>
          <a:stretch>
            <a:fillRect/>
          </a:stretch>
        </p:blipFill>
        <p:spPr>
          <a:xfrm>
            <a:off x="4251960" y="1453896"/>
            <a:ext cx="274320" cy="274320"/>
          </a:xfrm>
          <a:prstGeom prst="rect">
            <a:avLst/>
          </a:prstGeom>
        </p:spPr>
      </p:pic>
      <p:sp>
        <p:nvSpPr>
          <p:cNvPr id="13" name="Shape 10"/>
          <p:cNvSpPr/>
          <p:nvPr/>
        </p:nvSpPr>
        <p:spPr>
          <a:xfrm>
            <a:off x="4754880" y="859536"/>
            <a:ext cx="3931920" cy="1414741"/>
          </a:xfrm>
          <a:prstGeom prst="rect">
            <a:avLst/>
          </a:prstGeom>
          <a:solidFill>
            <a:srgbClr val="2D4A3E"/>
          </a:solidFill>
          <a:ln/>
        </p:spPr>
        <p:txBody>
          <a:bodyPr/>
          <a:lstStyle/>
          <a:p>
            <a:endParaRPr lang="en-US"/>
          </a:p>
        </p:txBody>
      </p:sp>
      <p:sp>
        <p:nvSpPr>
          <p:cNvPr id="14" name="Text 11"/>
          <p:cNvSpPr/>
          <p:nvPr/>
        </p:nvSpPr>
        <p:spPr>
          <a:xfrm>
            <a:off x="5029200" y="932688"/>
            <a:ext cx="3383280" cy="182880"/>
          </a:xfrm>
          <a:prstGeom prst="rect">
            <a:avLst/>
          </a:prstGeom>
          <a:noFill/>
          <a:ln/>
        </p:spPr>
        <p:txBody>
          <a:bodyPr wrap="square" lIns="0" tIns="0" rIns="0" bIns="0" rtlCol="0" anchor="ctr"/>
          <a:lstStyle/>
          <a:p>
            <a:pPr marL="0" indent="0">
              <a:buNone/>
            </a:pPr>
            <a:r>
              <a:rPr lang="en-US" sz="1000" kern="0" spc="200" dirty="0">
                <a:solidFill>
                  <a:srgbClr val="B8C9BC"/>
                </a:solidFill>
                <a:latin typeface="Calibri" pitchFamily="34" charset="0"/>
                <a:ea typeface="Calibri" pitchFamily="34" charset="-122"/>
                <a:cs typeface="Calibri" pitchFamily="34" charset="-120"/>
              </a:rPr>
              <a:t>+ TF-IDF TEXT FEATURES</a:t>
            </a:r>
            <a:endParaRPr lang="en-US" sz="1000" dirty="0"/>
          </a:p>
        </p:txBody>
      </p:sp>
      <p:sp>
        <p:nvSpPr>
          <p:cNvPr id="15" name="Text 12"/>
          <p:cNvSpPr/>
          <p:nvPr/>
        </p:nvSpPr>
        <p:spPr>
          <a:xfrm>
            <a:off x="5029200" y="1179576"/>
            <a:ext cx="1371600" cy="256032"/>
          </a:xfrm>
          <a:prstGeom prst="rect">
            <a:avLst/>
          </a:prstGeom>
          <a:noFill/>
          <a:ln/>
        </p:spPr>
        <p:txBody>
          <a:bodyPr wrap="square" lIns="0" tIns="0" rIns="0" bIns="0" rtlCol="0" anchor="ctr"/>
          <a:lstStyle/>
          <a:p>
            <a:pPr marL="0" indent="0">
              <a:buNone/>
            </a:pPr>
            <a:r>
              <a:rPr lang="en-US" sz="1200" dirty="0">
                <a:solidFill>
                  <a:srgbClr val="B8C9BC"/>
                </a:solidFill>
                <a:latin typeface="Calibri" pitchFamily="34" charset="0"/>
                <a:ea typeface="Calibri" pitchFamily="34" charset="-122"/>
                <a:cs typeface="Calibri" pitchFamily="34" charset="-120"/>
              </a:rPr>
              <a:t>ROC-AUC</a:t>
            </a:r>
            <a:endParaRPr lang="en-US" sz="1200" dirty="0"/>
          </a:p>
        </p:txBody>
      </p:sp>
      <p:sp>
        <p:nvSpPr>
          <p:cNvPr id="16" name="Text 13"/>
          <p:cNvSpPr/>
          <p:nvPr/>
        </p:nvSpPr>
        <p:spPr>
          <a:xfrm>
            <a:off x="6583680" y="1124712"/>
            <a:ext cx="914400" cy="320040"/>
          </a:xfrm>
          <a:prstGeom prst="rect">
            <a:avLst/>
          </a:prstGeom>
          <a:noFill/>
          <a:ln/>
        </p:spPr>
        <p:txBody>
          <a:bodyPr wrap="square" lIns="0" tIns="0" rIns="0" bIns="0" rtlCol="0" anchor="ctr"/>
          <a:lstStyle/>
          <a:p>
            <a:pPr marL="0" indent="0" algn="r">
              <a:buNone/>
            </a:pPr>
            <a:r>
              <a:rPr lang="en-US" sz="2000" b="1" dirty="0">
                <a:solidFill>
                  <a:srgbClr val="F7F3ED"/>
                </a:solidFill>
                <a:latin typeface="Georgia" pitchFamily="34" charset="0"/>
                <a:ea typeface="Georgia" pitchFamily="34" charset="-122"/>
                <a:cs typeface="Georgia" pitchFamily="34" charset="-120"/>
              </a:rPr>
              <a:t>0.99</a:t>
            </a:r>
            <a:endParaRPr lang="en-US" sz="2000" dirty="0"/>
          </a:p>
        </p:txBody>
      </p:sp>
      <p:sp>
        <p:nvSpPr>
          <p:cNvPr id="17" name="Text 14"/>
          <p:cNvSpPr/>
          <p:nvPr/>
        </p:nvSpPr>
        <p:spPr>
          <a:xfrm>
            <a:off x="7589520" y="1161288"/>
            <a:ext cx="640080" cy="256032"/>
          </a:xfrm>
          <a:prstGeom prst="rect">
            <a:avLst/>
          </a:prstGeom>
          <a:noFill/>
          <a:ln/>
        </p:spPr>
        <p:txBody>
          <a:bodyPr wrap="square" lIns="0" tIns="0" rIns="0" bIns="0" rtlCol="0" anchor="ctr"/>
          <a:lstStyle/>
          <a:p>
            <a:pPr marL="0" indent="0">
              <a:buNone/>
            </a:pPr>
            <a:r>
              <a:rPr lang="en-US" sz="1100" b="1" dirty="0">
                <a:solidFill>
                  <a:srgbClr val="C2703E"/>
                </a:solidFill>
                <a:latin typeface="Calibri" pitchFamily="34" charset="0"/>
                <a:ea typeface="Calibri" pitchFamily="34" charset="-122"/>
                <a:cs typeface="Calibri" pitchFamily="34" charset="-120"/>
              </a:rPr>
              <a:t>+30%</a:t>
            </a:r>
            <a:endParaRPr lang="en-US" sz="1100" dirty="0"/>
          </a:p>
        </p:txBody>
      </p:sp>
      <p:sp>
        <p:nvSpPr>
          <p:cNvPr id="18" name="Text 15"/>
          <p:cNvSpPr/>
          <p:nvPr/>
        </p:nvSpPr>
        <p:spPr>
          <a:xfrm>
            <a:off x="5029200" y="1563624"/>
            <a:ext cx="1371600" cy="256032"/>
          </a:xfrm>
          <a:prstGeom prst="rect">
            <a:avLst/>
          </a:prstGeom>
          <a:noFill/>
          <a:ln/>
        </p:spPr>
        <p:txBody>
          <a:bodyPr wrap="square" lIns="0" tIns="0" rIns="0" bIns="0" rtlCol="0" anchor="ctr"/>
          <a:lstStyle/>
          <a:p>
            <a:pPr marL="0" indent="0">
              <a:buNone/>
            </a:pPr>
            <a:r>
              <a:rPr lang="en-US" sz="1200" dirty="0">
                <a:solidFill>
                  <a:srgbClr val="B8C9BC"/>
                </a:solidFill>
                <a:latin typeface="Calibri" pitchFamily="34" charset="0"/>
                <a:ea typeface="Calibri" pitchFamily="34" charset="-122"/>
                <a:cs typeface="Calibri" pitchFamily="34" charset="-120"/>
              </a:rPr>
              <a:t>F1 Score</a:t>
            </a:r>
            <a:endParaRPr lang="en-US" sz="1200" dirty="0"/>
          </a:p>
        </p:txBody>
      </p:sp>
      <p:sp>
        <p:nvSpPr>
          <p:cNvPr id="19" name="Text 16"/>
          <p:cNvSpPr/>
          <p:nvPr/>
        </p:nvSpPr>
        <p:spPr>
          <a:xfrm>
            <a:off x="6583680" y="1508760"/>
            <a:ext cx="914400" cy="320040"/>
          </a:xfrm>
          <a:prstGeom prst="rect">
            <a:avLst/>
          </a:prstGeom>
          <a:noFill/>
          <a:ln/>
        </p:spPr>
        <p:txBody>
          <a:bodyPr wrap="square" lIns="0" tIns="0" rIns="0" bIns="0" rtlCol="0" anchor="ctr"/>
          <a:lstStyle/>
          <a:p>
            <a:pPr marL="0" indent="0" algn="r">
              <a:buNone/>
            </a:pPr>
            <a:r>
              <a:rPr lang="en-US" sz="2000" b="1" dirty="0">
                <a:solidFill>
                  <a:srgbClr val="F7F3ED"/>
                </a:solidFill>
                <a:latin typeface="Georgia" pitchFamily="34" charset="0"/>
                <a:ea typeface="Georgia" pitchFamily="34" charset="-122"/>
                <a:cs typeface="Georgia" pitchFamily="34" charset="-120"/>
              </a:rPr>
              <a:t>0.97</a:t>
            </a:r>
            <a:endParaRPr lang="en-US" sz="2000" dirty="0"/>
          </a:p>
        </p:txBody>
      </p:sp>
      <p:sp>
        <p:nvSpPr>
          <p:cNvPr id="20" name="Text 17"/>
          <p:cNvSpPr/>
          <p:nvPr/>
        </p:nvSpPr>
        <p:spPr>
          <a:xfrm>
            <a:off x="7589520" y="1545336"/>
            <a:ext cx="640080" cy="256032"/>
          </a:xfrm>
          <a:prstGeom prst="rect">
            <a:avLst/>
          </a:prstGeom>
          <a:noFill/>
          <a:ln/>
        </p:spPr>
        <p:txBody>
          <a:bodyPr wrap="square" lIns="0" tIns="0" rIns="0" bIns="0" rtlCol="0" anchor="ctr"/>
          <a:lstStyle/>
          <a:p>
            <a:pPr marL="0" indent="0">
              <a:buNone/>
            </a:pPr>
            <a:r>
              <a:rPr lang="en-US" sz="1100" b="1" dirty="0">
                <a:solidFill>
                  <a:srgbClr val="C2703E"/>
                </a:solidFill>
                <a:latin typeface="Calibri" pitchFamily="34" charset="0"/>
                <a:ea typeface="Calibri" pitchFamily="34" charset="-122"/>
                <a:cs typeface="Calibri" pitchFamily="34" charset="-120"/>
              </a:rPr>
              <a:t>+194%</a:t>
            </a:r>
            <a:endParaRPr lang="en-US" sz="1100" dirty="0"/>
          </a:p>
        </p:txBody>
      </p:sp>
      <p:sp>
        <p:nvSpPr>
          <p:cNvPr id="21" name="Text 18"/>
          <p:cNvSpPr/>
          <p:nvPr/>
        </p:nvSpPr>
        <p:spPr>
          <a:xfrm>
            <a:off x="5029200" y="1947672"/>
            <a:ext cx="1371600" cy="256032"/>
          </a:xfrm>
          <a:prstGeom prst="rect">
            <a:avLst/>
          </a:prstGeom>
          <a:noFill/>
          <a:ln/>
        </p:spPr>
        <p:txBody>
          <a:bodyPr wrap="square" lIns="0" tIns="0" rIns="0" bIns="0" rtlCol="0" anchor="ctr"/>
          <a:lstStyle/>
          <a:p>
            <a:pPr marL="0" indent="0">
              <a:buNone/>
            </a:pPr>
            <a:r>
              <a:rPr lang="en-US" sz="1200" dirty="0">
                <a:solidFill>
                  <a:srgbClr val="B8C9BC"/>
                </a:solidFill>
                <a:latin typeface="Calibri" pitchFamily="34" charset="0"/>
                <a:ea typeface="Calibri" pitchFamily="34" charset="-122"/>
                <a:cs typeface="Calibri" pitchFamily="34" charset="-120"/>
              </a:rPr>
              <a:t>Recall</a:t>
            </a:r>
            <a:endParaRPr lang="en-US" sz="1200" dirty="0"/>
          </a:p>
        </p:txBody>
      </p:sp>
      <p:sp>
        <p:nvSpPr>
          <p:cNvPr id="22" name="Text 19"/>
          <p:cNvSpPr/>
          <p:nvPr/>
        </p:nvSpPr>
        <p:spPr>
          <a:xfrm>
            <a:off x="6583680" y="1892808"/>
            <a:ext cx="914400" cy="320040"/>
          </a:xfrm>
          <a:prstGeom prst="rect">
            <a:avLst/>
          </a:prstGeom>
          <a:noFill/>
          <a:ln/>
        </p:spPr>
        <p:txBody>
          <a:bodyPr wrap="square" lIns="0" tIns="0" rIns="0" bIns="0" rtlCol="0" anchor="ctr"/>
          <a:lstStyle/>
          <a:p>
            <a:pPr marL="0" indent="0" algn="r">
              <a:buNone/>
            </a:pPr>
            <a:r>
              <a:rPr lang="en-US" sz="2000" b="1" dirty="0">
                <a:solidFill>
                  <a:srgbClr val="F7F3ED"/>
                </a:solidFill>
                <a:latin typeface="Georgia" pitchFamily="34" charset="0"/>
                <a:ea typeface="Georgia" pitchFamily="34" charset="-122"/>
                <a:cs typeface="Georgia" pitchFamily="34" charset="-120"/>
              </a:rPr>
              <a:t>0.96</a:t>
            </a:r>
            <a:endParaRPr lang="en-US" sz="2000" dirty="0"/>
          </a:p>
        </p:txBody>
      </p:sp>
      <p:sp>
        <p:nvSpPr>
          <p:cNvPr id="23" name="Text 20"/>
          <p:cNvSpPr/>
          <p:nvPr/>
        </p:nvSpPr>
        <p:spPr>
          <a:xfrm>
            <a:off x="7589520" y="1929384"/>
            <a:ext cx="640080" cy="256032"/>
          </a:xfrm>
          <a:prstGeom prst="rect">
            <a:avLst/>
          </a:prstGeom>
          <a:noFill/>
          <a:ln/>
        </p:spPr>
        <p:txBody>
          <a:bodyPr wrap="square" lIns="0" tIns="0" rIns="0" bIns="0" rtlCol="0" anchor="ctr"/>
          <a:lstStyle/>
          <a:p>
            <a:pPr marL="0" indent="0">
              <a:buNone/>
            </a:pPr>
            <a:r>
              <a:rPr lang="en-US" sz="1100" b="1" dirty="0">
                <a:solidFill>
                  <a:srgbClr val="C2703E"/>
                </a:solidFill>
                <a:latin typeface="Calibri" pitchFamily="34" charset="0"/>
                <a:ea typeface="Calibri" pitchFamily="34" charset="-122"/>
                <a:cs typeface="Calibri" pitchFamily="34" charset="-120"/>
              </a:rPr>
              <a:t>+37%</a:t>
            </a:r>
            <a:endParaRPr lang="en-US" sz="1100" dirty="0"/>
          </a:p>
        </p:txBody>
      </p:sp>
      <p:sp>
        <p:nvSpPr>
          <p:cNvPr id="24" name="Text 2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7A8A80"/>
                </a:solidFill>
                <a:latin typeface="Calibri" pitchFamily="34" charset="0"/>
                <a:ea typeface="Calibri" pitchFamily="34" charset="-122"/>
                <a:cs typeface="Calibri" pitchFamily="34" charset="-120"/>
              </a:rPr>
              <a:t>6</a:t>
            </a:r>
            <a:endParaRPr lang="en-US" sz="900" dirty="0"/>
          </a:p>
        </p:txBody>
      </p:sp>
      <p:pic>
        <p:nvPicPr>
          <p:cNvPr id="25" name="Picture 24" descr="tfidf_features.jpeg"/>
          <p:cNvPicPr>
            <a:picLocks noChangeAspect="1"/>
          </p:cNvPicPr>
          <p:nvPr/>
        </p:nvPicPr>
        <p:blipFill>
          <a:blip r:embed="rId4"/>
          <a:stretch>
            <a:fillRect/>
          </a:stretch>
        </p:blipFill>
        <p:spPr>
          <a:xfrm>
            <a:off x="274320" y="2313432"/>
            <a:ext cx="8412480" cy="276654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D"/>
        </a:solidFill>
        <a:effectLst/>
      </p:bgPr>
    </p:bg>
    <p:spTree>
      <p:nvGrpSpPr>
        <p:cNvPr id="1" name=""/>
        <p:cNvGrpSpPr/>
        <p:nvPr/>
      </p:nvGrpSpPr>
      <p:grpSpPr>
        <a:xfrm>
          <a:off x="0" y="0"/>
          <a:ext cx="0" cy="0"/>
          <a:chOff x="0" y="0"/>
          <a:chExt cx="0" cy="0"/>
        </a:xfrm>
      </p:grpSpPr>
      <p:sp>
        <p:nvSpPr>
          <p:cNvPr id="2" name="Text 0"/>
          <p:cNvSpPr/>
          <p:nvPr/>
        </p:nvSpPr>
        <p:spPr>
          <a:xfrm>
            <a:off x="640080" y="411480"/>
            <a:ext cx="4572000" cy="22860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MODEL RESULTS</a:t>
            </a:r>
            <a:endParaRPr lang="en-US" sz="1000" dirty="0"/>
          </a:p>
        </p:txBody>
      </p:sp>
      <p:sp>
        <p:nvSpPr>
          <p:cNvPr id="3" name="Text 1"/>
          <p:cNvSpPr/>
          <p:nvPr/>
        </p:nvSpPr>
        <p:spPr>
          <a:xfrm>
            <a:off x="640080" y="685800"/>
            <a:ext cx="7315200" cy="411480"/>
          </a:xfrm>
          <a:prstGeom prst="rect">
            <a:avLst/>
          </a:prstGeom>
          <a:noFill/>
          <a:ln/>
        </p:spPr>
        <p:txBody>
          <a:bodyPr wrap="square" lIns="0" tIns="0" rIns="0" bIns="0" rtlCol="0" anchor="ctr"/>
          <a:lstStyle/>
          <a:p>
            <a:pPr marL="0" indent="0">
              <a:buNone/>
            </a:pPr>
            <a:r>
              <a:rPr lang="en-US" sz="2400" dirty="0">
                <a:solidFill>
                  <a:srgbClr val="1A1A1A"/>
                </a:solidFill>
                <a:latin typeface="Georgia" pitchFamily="34" charset="0"/>
                <a:ea typeface="Georgia" pitchFamily="34" charset="-122"/>
                <a:cs typeface="Georgia" pitchFamily="34" charset="-120"/>
              </a:rPr>
              <a:t>Six models, all above 0.985 AUC</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7863840" cy="2322576"/>
        </p:xfrm>
        <a:graphic>
          <a:graphicData uri="http://schemas.openxmlformats.org/drawingml/2006/table">
            <a:tbl>
              <a:tblPr/>
              <a:tblGrid>
                <a:gridCol w="2011680">
                  <a:extLst>
                    <a:ext uri="{9D8B030D-6E8A-4147-A177-3AD203B41FA5}">
                      <a16:colId xmlns:a16="http://schemas.microsoft.com/office/drawing/2014/main" val="20000"/>
                    </a:ext>
                  </a:extLst>
                </a:gridCol>
                <a:gridCol w="1170432">
                  <a:extLst>
                    <a:ext uri="{9D8B030D-6E8A-4147-A177-3AD203B41FA5}">
                      <a16:colId xmlns:a16="http://schemas.microsoft.com/office/drawing/2014/main" val="20001"/>
                    </a:ext>
                  </a:extLst>
                </a:gridCol>
                <a:gridCol w="1170432">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gridCol w="1170432">
                  <a:extLst>
                    <a:ext uri="{9D8B030D-6E8A-4147-A177-3AD203B41FA5}">
                      <a16:colId xmlns:a16="http://schemas.microsoft.com/office/drawing/2014/main" val="20005"/>
                    </a:ext>
                  </a:extLst>
                </a:gridCol>
              </a:tblGrid>
              <a:tr h="347472">
                <a:tc>
                  <a:txBody>
                    <a:bodyPr/>
                    <a:lstStyle/>
                    <a:p>
                      <a:pPr marL="0" indent="0" algn="l">
                        <a:buNone/>
                      </a:pPr>
                      <a:r>
                        <a:rPr lang="en-US" sz="1100" b="1" dirty="0">
                          <a:solidFill>
                            <a:srgbClr val="F7F3ED"/>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2D4A3E"/>
                    </a:solidFill>
                  </a:tcPr>
                </a:tc>
                <a:tc>
                  <a:txBody>
                    <a:bodyPr/>
                    <a:lstStyle/>
                    <a:p>
                      <a:pPr marL="0" indent="0" algn="ctr">
                        <a:buNone/>
                      </a:pPr>
                      <a:r>
                        <a:rPr lang="en-US" sz="1100" b="1" dirty="0">
                          <a:solidFill>
                            <a:srgbClr val="F7F3ED"/>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2D4A3E"/>
                    </a:solidFill>
                  </a:tcPr>
                </a:tc>
                <a:tc>
                  <a:txBody>
                    <a:bodyPr/>
                    <a:lstStyle/>
                    <a:p>
                      <a:pPr marL="0" indent="0" algn="ctr">
                        <a:buNone/>
                      </a:pPr>
                      <a:r>
                        <a:rPr lang="en-US" sz="1100" b="1" dirty="0">
                          <a:solidFill>
                            <a:srgbClr val="F7F3ED"/>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2D4A3E"/>
                    </a:solidFill>
                  </a:tcPr>
                </a:tc>
                <a:tc>
                  <a:txBody>
                    <a:bodyPr/>
                    <a:lstStyle/>
                    <a:p>
                      <a:pPr marL="0" indent="0" algn="ctr">
                        <a:buNone/>
                      </a:pPr>
                      <a:r>
                        <a:rPr lang="en-US" sz="1100" b="1" dirty="0">
                          <a:solidFill>
                            <a:srgbClr val="F7F3ED"/>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2D4A3E"/>
                    </a:solidFill>
                  </a:tcPr>
                </a:tc>
                <a:tc>
                  <a:txBody>
                    <a:bodyPr/>
                    <a:lstStyle/>
                    <a:p>
                      <a:pPr marL="0" indent="0" algn="ctr">
                        <a:buNone/>
                      </a:pPr>
                      <a:r>
                        <a:rPr lang="en-US" sz="1100" b="1" dirty="0">
                          <a:solidFill>
                            <a:srgbClr val="F7F3ED"/>
                          </a:solidFill>
                          <a:latin typeface="Calibri" pitchFamily="34" charset="0"/>
                          <a:ea typeface="Calibri" pitchFamily="34" charset="-122"/>
                          <a:cs typeface="Calibri" pitchFamily="34" charset="-120"/>
                        </a:rPr>
                        <a:t>F1 Score</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2D4A3E"/>
                    </a:solidFill>
                  </a:tcPr>
                </a:tc>
                <a:tc>
                  <a:txBody>
                    <a:bodyPr/>
                    <a:lstStyle/>
                    <a:p>
                      <a:pPr marL="0" indent="0" algn="ctr">
                        <a:buNone/>
                      </a:pPr>
                      <a:r>
                        <a:rPr lang="en-US" sz="1100" b="1" dirty="0">
                          <a:solidFill>
                            <a:srgbClr val="F7F3ED"/>
                          </a:solidFill>
                          <a:latin typeface="Calibri" pitchFamily="34" charset="0"/>
                          <a:ea typeface="Calibri" pitchFamily="34" charset="-122"/>
                          <a:cs typeface="Calibri" pitchFamily="34" charset="-120"/>
                        </a:rPr>
                        <a:t>ROC-AUC</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2D4A3E"/>
                    </a:solidFill>
                  </a:tcPr>
                </a:tc>
                <a:extLst>
                  <a:ext uri="{0D108BD9-81ED-4DB2-BD59-A6C34878D82A}">
                    <a16:rowId xmlns:a16="http://schemas.microsoft.com/office/drawing/2014/main" val="10000"/>
                  </a:ext>
                </a:extLst>
              </a:tr>
              <a:tr h="329184">
                <a:tc>
                  <a:txBody>
                    <a:bodyPr/>
                    <a:lstStyle/>
                    <a:p>
                      <a:pPr marL="0" indent="0">
                        <a:buNone/>
                      </a:pPr>
                      <a:r>
                        <a:rPr lang="en-US" sz="1100" b="1" dirty="0">
                          <a:solidFill>
                            <a:srgbClr val="2D4A3E"/>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E8EEEA"/>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0.9922</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E8EEEA"/>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0.9783</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E8EEEA"/>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0.9578</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E8EEEA"/>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0.9679</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E8EEEA"/>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0.9917</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E8EEEA"/>
                    </a:solidFill>
                  </a:tcPr>
                </a:tc>
                <a:extLst>
                  <a:ext uri="{0D108BD9-81ED-4DB2-BD59-A6C34878D82A}">
                    <a16:rowId xmlns:a16="http://schemas.microsoft.com/office/drawing/2014/main" val="10001"/>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LinearSVC</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0.9927</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0.9802</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0.9592</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0.9696</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0.9915</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0.9588</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0.7594</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0.9701</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0.8519</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0.9906</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0.9945</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0.9973</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0.9576</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0.9770</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0.9916</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0.9944</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0.9964</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0.9575</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0.9765</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0.9914</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Gradient Boosting</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0.9946</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0.9999</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0.9560</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0.9774</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0.9881</a:t>
                      </a:r>
                      <a:endParaRPr lang="en-US" sz="1100" dirty="0">
                        <a:latin typeface="Calibri" charset="0"/>
                        <a:ea typeface="Calibri" charset="0"/>
                        <a:cs typeface="Calibri" charset="0"/>
                      </a:endParaRPr>
                    </a:p>
                  </a:txBody>
                  <a:tcPr>
                    <a:lnL w="6350" cap="flat" cmpd="sng" algn="ctr">
                      <a:solidFill>
                        <a:srgbClr val="B8C9BC"/>
                      </a:solidFill>
                      <a:prstDash val="solid"/>
                      <a:round/>
                      <a:headEnd type="none" w="med" len="med"/>
                      <a:tailEnd type="none" w="med" len="med"/>
                    </a:lnL>
                    <a:lnR w="6350" cap="flat" cmpd="sng" algn="ctr">
                      <a:solidFill>
                        <a:srgbClr val="B8C9BC"/>
                      </a:solidFill>
                      <a:prstDash val="solid"/>
                      <a:round/>
                      <a:headEnd type="none" w="med" len="med"/>
                      <a:tailEnd type="none" w="med" len="med"/>
                    </a:lnR>
                    <a:lnT w="6350" cap="flat" cmpd="sng" algn="ctr">
                      <a:solidFill>
                        <a:srgbClr val="B8C9BC"/>
                      </a:solidFill>
                      <a:prstDash val="solid"/>
                      <a:round/>
                      <a:headEnd type="none" w="med" len="med"/>
                      <a:tailEnd type="none" w="med" len="med"/>
                    </a:lnT>
                    <a:lnB w="6350" cap="flat" cmpd="sng" algn="ctr">
                      <a:solidFill>
                        <a:srgbClr val="B8C9B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nvSpPr>
        <p:spPr>
          <a:xfrm>
            <a:off x="640080" y="3794760"/>
            <a:ext cx="4572000" cy="182880"/>
          </a:xfrm>
          <a:prstGeom prst="rect">
            <a:avLst/>
          </a:prstGeom>
          <a:noFill/>
          <a:ln/>
        </p:spPr>
        <p:txBody>
          <a:bodyPr wrap="square" lIns="0" tIns="0" rIns="0" bIns="0" rtlCol="0" anchor="ctr"/>
          <a:lstStyle/>
          <a:p>
            <a:pPr marL="0" indent="0">
              <a:buNone/>
            </a:pPr>
            <a:r>
              <a:rPr lang="en-US" sz="1000" kern="0" spc="200" dirty="0">
                <a:solidFill>
                  <a:srgbClr val="7A8A80"/>
                </a:solidFill>
                <a:latin typeface="Calibri" pitchFamily="34" charset="0"/>
                <a:ea typeface="Calibri" pitchFamily="34" charset="-122"/>
                <a:cs typeface="Calibri" pitchFamily="34" charset="-120"/>
              </a:rPr>
              <a:t>KEY OBSERVATIONS</a:t>
            </a:r>
            <a:endParaRPr lang="en-US" sz="1000" dirty="0"/>
          </a:p>
        </p:txBody>
      </p:sp>
      <p:sp>
        <p:nvSpPr>
          <p:cNvPr id="6" name="Text 3"/>
          <p:cNvSpPr/>
          <p:nvPr/>
        </p:nvSpPr>
        <p:spPr>
          <a:xfrm>
            <a:off x="640080" y="4023360"/>
            <a:ext cx="1371600" cy="228600"/>
          </a:xfrm>
          <a:prstGeom prst="rect">
            <a:avLst/>
          </a:prstGeom>
          <a:noFill/>
          <a:ln/>
        </p:spPr>
        <p:txBody>
          <a:bodyPr wrap="square" lIns="0" tIns="0" rIns="0" bIns="0" rtlCol="0" anchor="ctr"/>
          <a:lstStyle/>
          <a:p>
            <a:pPr marL="0" indent="0">
              <a:buNone/>
            </a:pPr>
            <a:r>
              <a:rPr lang="en-US" sz="1100" b="1" dirty="0">
                <a:solidFill>
                  <a:srgbClr val="C2703E"/>
                </a:solidFill>
                <a:latin typeface="Calibri" pitchFamily="34" charset="0"/>
                <a:ea typeface="Calibri" pitchFamily="34" charset="-122"/>
                <a:cs typeface="Calibri" pitchFamily="34" charset="-120"/>
              </a:rPr>
              <a:t>Best AUC:</a:t>
            </a:r>
            <a:endParaRPr lang="en-US" sz="1100" dirty="0"/>
          </a:p>
        </p:txBody>
      </p:sp>
      <p:sp>
        <p:nvSpPr>
          <p:cNvPr id="7" name="Text 4"/>
          <p:cNvSpPr/>
          <p:nvPr/>
        </p:nvSpPr>
        <p:spPr>
          <a:xfrm>
            <a:off x="2011680" y="4023360"/>
            <a:ext cx="6492240" cy="228600"/>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LR (0.9917) and XGBoost (0.9916) — best interpretability-performance balance</a:t>
            </a:r>
            <a:endParaRPr lang="en-US" sz="1100" dirty="0"/>
          </a:p>
        </p:txBody>
      </p:sp>
      <p:sp>
        <p:nvSpPr>
          <p:cNvPr id="4" name="Text 5"/>
          <p:cNvSpPr/>
          <p:nvPr/>
        </p:nvSpPr>
        <p:spPr>
          <a:xfrm>
            <a:off x="640080" y="4279392"/>
            <a:ext cx="1371600" cy="228600"/>
          </a:xfrm>
          <a:prstGeom prst="rect">
            <a:avLst/>
          </a:prstGeom>
          <a:noFill/>
          <a:ln/>
        </p:spPr>
        <p:txBody>
          <a:bodyPr wrap="square" lIns="0" tIns="0" rIns="0" bIns="0" rtlCol="0" anchor="ctr"/>
          <a:lstStyle/>
          <a:p>
            <a:pPr marL="0" indent="0">
              <a:buNone/>
            </a:pPr>
            <a:r>
              <a:rPr lang="en-US" sz="1100" b="1" dirty="0">
                <a:solidFill>
                  <a:srgbClr val="C2703E"/>
                </a:solidFill>
                <a:latin typeface="Calibri" pitchFamily="34" charset="0"/>
                <a:ea typeface="Calibri" pitchFamily="34" charset="-122"/>
                <a:cs typeface="Calibri" pitchFamily="34" charset="-120"/>
              </a:rPr>
              <a:t>Highest recall:</a:t>
            </a:r>
            <a:endParaRPr lang="en-US" sz="1100" dirty="0"/>
          </a:p>
        </p:txBody>
      </p:sp>
      <p:sp>
        <p:nvSpPr>
          <p:cNvPr id="9" name="Text 6"/>
          <p:cNvSpPr/>
          <p:nvPr/>
        </p:nvSpPr>
        <p:spPr>
          <a:xfrm>
            <a:off x="2011680" y="4279392"/>
            <a:ext cx="6492240" cy="228600"/>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Random Forest (97.0%) catches most irritation but has more false positives</a:t>
            </a:r>
            <a:endParaRPr lang="en-US" sz="1100" dirty="0"/>
          </a:p>
        </p:txBody>
      </p:sp>
      <p:sp>
        <p:nvSpPr>
          <p:cNvPr id="10" name="Text 7"/>
          <p:cNvSpPr/>
          <p:nvPr/>
        </p:nvSpPr>
        <p:spPr>
          <a:xfrm>
            <a:off x="640080" y="4535424"/>
            <a:ext cx="1371600" cy="228600"/>
          </a:xfrm>
          <a:prstGeom prst="rect">
            <a:avLst/>
          </a:prstGeom>
          <a:noFill/>
          <a:ln/>
        </p:spPr>
        <p:txBody>
          <a:bodyPr wrap="square" lIns="0" tIns="0" rIns="0" bIns="0" rtlCol="0" anchor="ctr"/>
          <a:lstStyle/>
          <a:p>
            <a:pPr marL="0" indent="0">
              <a:buNone/>
            </a:pPr>
            <a:r>
              <a:rPr lang="en-US" sz="1100" b="1" dirty="0">
                <a:solidFill>
                  <a:srgbClr val="C2703E"/>
                </a:solidFill>
                <a:latin typeface="Calibri" pitchFamily="34" charset="0"/>
                <a:ea typeface="Calibri" pitchFamily="34" charset="-122"/>
                <a:cs typeface="Calibri" pitchFamily="34" charset="-120"/>
              </a:rPr>
              <a:t>Highest F1:</a:t>
            </a:r>
            <a:endParaRPr lang="en-US" sz="1100" dirty="0"/>
          </a:p>
        </p:txBody>
      </p:sp>
      <p:sp>
        <p:nvSpPr>
          <p:cNvPr id="11" name="Text 8"/>
          <p:cNvSpPr/>
          <p:nvPr/>
        </p:nvSpPr>
        <p:spPr>
          <a:xfrm>
            <a:off x="2011680" y="4535424"/>
            <a:ext cx="6492240" cy="228600"/>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Gradient Boosting (0.9774) and XGBoost (0.9770) — best precision-recall tradeoff</a:t>
            </a:r>
            <a:endParaRPr lang="en-US" sz="1100" dirty="0"/>
          </a:p>
        </p:txBody>
      </p:sp>
      <p:sp>
        <p:nvSpPr>
          <p:cNvPr id="12" name="Text 9"/>
          <p:cNvSpPr/>
          <p:nvPr/>
        </p:nvSpPr>
        <p:spPr>
          <a:xfrm>
            <a:off x="640080" y="4791456"/>
            <a:ext cx="1371600" cy="228600"/>
          </a:xfrm>
          <a:prstGeom prst="rect">
            <a:avLst/>
          </a:prstGeom>
          <a:noFill/>
          <a:ln/>
        </p:spPr>
        <p:txBody>
          <a:bodyPr wrap="square" lIns="0" tIns="0" rIns="0" bIns="0" rtlCol="0" anchor="ctr"/>
          <a:lstStyle/>
          <a:p>
            <a:pPr marL="0" indent="0">
              <a:buNone/>
            </a:pPr>
            <a:r>
              <a:rPr lang="en-US" sz="1100" b="1" dirty="0">
                <a:solidFill>
                  <a:srgbClr val="C2703E"/>
                </a:solidFill>
                <a:latin typeface="Calibri" pitchFamily="34" charset="0"/>
                <a:ea typeface="Calibri" pitchFamily="34" charset="-122"/>
                <a:cs typeface="Calibri" pitchFamily="34" charset="-120"/>
              </a:rPr>
              <a:t>Near-perfect precision:</a:t>
            </a:r>
            <a:endParaRPr lang="en-US" sz="1100" dirty="0"/>
          </a:p>
        </p:txBody>
      </p:sp>
      <p:sp>
        <p:nvSpPr>
          <p:cNvPr id="13" name="Text 10"/>
          <p:cNvSpPr/>
          <p:nvPr/>
        </p:nvSpPr>
        <p:spPr>
          <a:xfrm>
            <a:off x="2011680" y="4791456"/>
            <a:ext cx="6492240" cy="228600"/>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Gradient Boosting (99.99%) — virtually zero false positives across 191K reviews</a:t>
            </a:r>
            <a:endParaRPr lang="en-US" sz="1100" dirty="0"/>
          </a:p>
        </p:txBody>
      </p:sp>
      <p:sp>
        <p:nvSpPr>
          <p:cNvPr id="14" name="Text 1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7A8A80"/>
                </a:solidFill>
                <a:latin typeface="Calibri" pitchFamily="34" charset="0"/>
                <a:ea typeface="Calibri" pitchFamily="34" charset="-122"/>
                <a:cs typeface="Calibri" pitchFamily="34" charset="-120"/>
              </a:rPr>
              <a:t>7</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60020"/>
            <a:ext cx="4572000" cy="22860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CROSS-VALIDATION</a:t>
            </a:r>
            <a:endParaRPr lang="en-US" sz="1000" dirty="0"/>
          </a:p>
        </p:txBody>
      </p:sp>
      <p:sp>
        <p:nvSpPr>
          <p:cNvPr id="3" name="Text 1"/>
          <p:cNvSpPr/>
          <p:nvPr/>
        </p:nvSpPr>
        <p:spPr>
          <a:xfrm>
            <a:off x="640080" y="434340"/>
            <a:ext cx="7315200" cy="411480"/>
          </a:xfrm>
          <a:prstGeom prst="rect">
            <a:avLst/>
          </a:prstGeom>
          <a:noFill/>
          <a:ln/>
        </p:spPr>
        <p:txBody>
          <a:bodyPr wrap="square" lIns="0" tIns="0" rIns="0" bIns="0" rtlCol="0" anchor="ctr"/>
          <a:lstStyle/>
          <a:p>
            <a:pPr marL="0" indent="0">
              <a:buNone/>
            </a:pPr>
            <a:r>
              <a:rPr lang="en-US" sz="2400" dirty="0">
                <a:solidFill>
                  <a:srgbClr val="1A1A1A"/>
                </a:solidFill>
                <a:latin typeface="Georgia" pitchFamily="34" charset="0"/>
                <a:ea typeface="Georgia" pitchFamily="34" charset="-122"/>
                <a:cs typeface="Georgia" pitchFamily="34" charset="-120"/>
              </a:rPr>
              <a:t>Confirming stability across folds</a:t>
            </a:r>
            <a:endParaRPr lang="en-US" sz="2400" dirty="0"/>
          </a:p>
        </p:txBody>
      </p:sp>
      <p:sp>
        <p:nvSpPr>
          <p:cNvPr id="4" name="Text 2"/>
          <p:cNvSpPr/>
          <p:nvPr/>
        </p:nvSpPr>
        <p:spPr>
          <a:xfrm>
            <a:off x="577557" y="754380"/>
            <a:ext cx="8449212" cy="365760"/>
          </a:xfrm>
          <a:prstGeom prst="rect">
            <a:avLst/>
          </a:prstGeom>
          <a:noFill/>
          <a:ln/>
        </p:spPr>
        <p:txBody>
          <a:bodyPr wrap="square" rtlCol="0" anchor="ctr"/>
          <a:lstStyle/>
          <a:p>
            <a:pPr marL="0" indent="0">
              <a:lnSpc>
                <a:spcPct val="130000"/>
              </a:lnSpc>
              <a:buNone/>
            </a:pPr>
            <a:r>
              <a:rPr lang="en-US" sz="1200" dirty="0">
                <a:solidFill>
                  <a:srgbClr val="7A8A80"/>
                </a:solidFill>
                <a:latin typeface="Calibri" pitchFamily="34" charset="0"/>
                <a:ea typeface="Calibri" pitchFamily="34" charset="-122"/>
                <a:cs typeface="Calibri" pitchFamily="34" charset="-120"/>
              </a:rPr>
              <a:t>5-fold stratified cross-validation on a 100K stratified subsample. TF-IDF fitted independently inside each fold to prevent data leakage.</a:t>
            </a:r>
            <a:endParaRPr lang="en-US" sz="1200" dirty="0"/>
          </a:p>
        </p:txBody>
      </p:sp>
      <p:sp>
        <p:nvSpPr>
          <p:cNvPr id="5" name="Shape 3"/>
          <p:cNvSpPr/>
          <p:nvPr/>
        </p:nvSpPr>
        <p:spPr>
          <a:xfrm>
            <a:off x="502920" y="1165860"/>
            <a:ext cx="2606040" cy="1554480"/>
          </a:xfrm>
          <a:prstGeom prst="rect">
            <a:avLst/>
          </a:prstGeom>
          <a:solidFill>
            <a:srgbClr val="2D4A3E"/>
          </a:solidFill>
          <a:ln/>
        </p:spPr>
        <p:txBody>
          <a:bodyPr/>
          <a:lstStyle/>
          <a:p>
            <a:endParaRPr lang="en-US"/>
          </a:p>
        </p:txBody>
      </p:sp>
      <p:sp>
        <p:nvSpPr>
          <p:cNvPr id="6" name="Text 4"/>
          <p:cNvSpPr/>
          <p:nvPr/>
        </p:nvSpPr>
        <p:spPr>
          <a:xfrm>
            <a:off x="685800" y="1239012"/>
            <a:ext cx="2240280" cy="274320"/>
          </a:xfrm>
          <a:prstGeom prst="rect">
            <a:avLst/>
          </a:prstGeom>
          <a:noFill/>
          <a:ln/>
        </p:spPr>
        <p:txBody>
          <a:bodyPr wrap="square" lIns="0" tIns="0" rIns="0" bIns="0" rtlCol="0" anchor="ctr"/>
          <a:lstStyle/>
          <a:p>
            <a:pPr marL="0" indent="0">
              <a:buNone/>
            </a:pPr>
            <a:r>
              <a:rPr lang="en-US" sz="1300" dirty="0">
                <a:solidFill>
                  <a:srgbClr val="F7F3ED"/>
                </a:solidFill>
                <a:latin typeface="Georgia" pitchFamily="34" charset="0"/>
                <a:ea typeface="Georgia" pitchFamily="34" charset="-122"/>
                <a:cs typeface="Georgia" pitchFamily="34" charset="-120"/>
              </a:rPr>
              <a:t>Logistic Regression</a:t>
            </a:r>
            <a:endParaRPr lang="en-US" sz="1300" dirty="0"/>
          </a:p>
        </p:txBody>
      </p:sp>
      <p:sp>
        <p:nvSpPr>
          <p:cNvPr id="7" name="Text 5"/>
          <p:cNvSpPr/>
          <p:nvPr/>
        </p:nvSpPr>
        <p:spPr>
          <a:xfrm>
            <a:off x="685800" y="1577340"/>
            <a:ext cx="2240280" cy="164592"/>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Accuracy</a:t>
            </a:r>
            <a:endParaRPr lang="en-US" sz="1100" dirty="0"/>
          </a:p>
        </p:txBody>
      </p:sp>
      <p:sp>
        <p:nvSpPr>
          <p:cNvPr id="8" name="Text 6"/>
          <p:cNvSpPr/>
          <p:nvPr/>
        </p:nvSpPr>
        <p:spPr>
          <a:xfrm>
            <a:off x="685800" y="1723644"/>
            <a:ext cx="2240280" cy="182880"/>
          </a:xfrm>
          <a:prstGeom prst="rect">
            <a:avLst/>
          </a:prstGeom>
          <a:noFill/>
          <a:ln/>
        </p:spPr>
        <p:txBody>
          <a:bodyPr wrap="square" lIns="0" tIns="0" rIns="0" bIns="0" rtlCol="0" anchor="ctr"/>
          <a:lstStyle/>
          <a:p>
            <a:pPr marL="0" indent="0">
              <a:buNone/>
            </a:pPr>
            <a:r>
              <a:rPr lang="en-US" sz="1100" b="1" dirty="0">
                <a:solidFill>
                  <a:srgbClr val="F7F3ED"/>
                </a:solidFill>
                <a:latin typeface="Calibri" pitchFamily="34" charset="0"/>
                <a:ea typeface="Calibri" pitchFamily="34" charset="-122"/>
                <a:cs typeface="Calibri" pitchFamily="34" charset="-120"/>
              </a:rPr>
              <a:t>0.9822 ± 0.0017</a:t>
            </a:r>
            <a:endParaRPr lang="en-US" sz="1100" dirty="0"/>
          </a:p>
        </p:txBody>
      </p:sp>
      <p:sp>
        <p:nvSpPr>
          <p:cNvPr id="9" name="Text 7"/>
          <p:cNvSpPr/>
          <p:nvPr/>
        </p:nvSpPr>
        <p:spPr>
          <a:xfrm>
            <a:off x="685800" y="1924812"/>
            <a:ext cx="2240280" cy="164592"/>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F1 Score</a:t>
            </a:r>
            <a:endParaRPr lang="en-US" sz="1100" dirty="0"/>
          </a:p>
        </p:txBody>
      </p:sp>
      <p:sp>
        <p:nvSpPr>
          <p:cNvPr id="10" name="Text 8"/>
          <p:cNvSpPr/>
          <p:nvPr/>
        </p:nvSpPr>
        <p:spPr>
          <a:xfrm>
            <a:off x="685800" y="2071116"/>
            <a:ext cx="2240280" cy="182880"/>
          </a:xfrm>
          <a:prstGeom prst="rect">
            <a:avLst/>
          </a:prstGeom>
          <a:noFill/>
          <a:ln/>
        </p:spPr>
        <p:txBody>
          <a:bodyPr wrap="square" lIns="0" tIns="0" rIns="0" bIns="0" rtlCol="0" anchor="ctr"/>
          <a:lstStyle/>
          <a:p>
            <a:pPr marL="0" indent="0">
              <a:buNone/>
            </a:pPr>
            <a:r>
              <a:rPr lang="en-US" sz="1100" b="1" dirty="0">
                <a:solidFill>
                  <a:srgbClr val="F7F3ED"/>
                </a:solidFill>
                <a:latin typeface="Calibri" pitchFamily="34" charset="0"/>
                <a:ea typeface="Calibri" pitchFamily="34" charset="-122"/>
                <a:cs typeface="Calibri" pitchFamily="34" charset="-120"/>
              </a:rPr>
              <a:t>0.9215 ± 0.0080</a:t>
            </a:r>
            <a:endParaRPr lang="en-US" sz="1100" dirty="0"/>
          </a:p>
        </p:txBody>
      </p:sp>
      <p:sp>
        <p:nvSpPr>
          <p:cNvPr id="11" name="Text 9"/>
          <p:cNvSpPr/>
          <p:nvPr/>
        </p:nvSpPr>
        <p:spPr>
          <a:xfrm>
            <a:off x="685800" y="2272284"/>
            <a:ext cx="2240280" cy="164592"/>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ROC-AUC</a:t>
            </a:r>
            <a:endParaRPr lang="en-US" sz="1100" dirty="0"/>
          </a:p>
        </p:txBody>
      </p:sp>
      <p:sp>
        <p:nvSpPr>
          <p:cNvPr id="12" name="Text 10"/>
          <p:cNvSpPr/>
          <p:nvPr/>
        </p:nvSpPr>
        <p:spPr>
          <a:xfrm>
            <a:off x="685800" y="2418588"/>
            <a:ext cx="2240280" cy="182880"/>
          </a:xfrm>
          <a:prstGeom prst="rect">
            <a:avLst/>
          </a:prstGeom>
          <a:noFill/>
          <a:ln/>
        </p:spPr>
        <p:txBody>
          <a:bodyPr wrap="square" lIns="0" tIns="0" rIns="0" bIns="0" rtlCol="0" anchor="ctr"/>
          <a:lstStyle/>
          <a:p>
            <a:pPr marL="0" indent="0">
              <a:buNone/>
            </a:pPr>
            <a:r>
              <a:rPr lang="en-US" sz="1100" b="1" dirty="0">
                <a:solidFill>
                  <a:srgbClr val="F7F3ED"/>
                </a:solidFill>
                <a:latin typeface="Calibri" pitchFamily="34" charset="0"/>
                <a:ea typeface="Calibri" pitchFamily="34" charset="-122"/>
                <a:cs typeface="Calibri" pitchFamily="34" charset="-120"/>
              </a:rPr>
              <a:t>0.9888 ± 0.0014</a:t>
            </a:r>
            <a:endParaRPr lang="en-US" sz="1100" dirty="0"/>
          </a:p>
        </p:txBody>
      </p:sp>
      <p:sp>
        <p:nvSpPr>
          <p:cNvPr id="13" name="Shape 11"/>
          <p:cNvSpPr/>
          <p:nvPr/>
        </p:nvSpPr>
        <p:spPr>
          <a:xfrm>
            <a:off x="3383280" y="1165860"/>
            <a:ext cx="2606040" cy="1554480"/>
          </a:xfrm>
          <a:prstGeom prst="rect">
            <a:avLst/>
          </a:prstGeom>
          <a:solidFill>
            <a:srgbClr val="E8EEEA"/>
          </a:solidFill>
          <a:ln/>
        </p:spPr>
        <p:txBody>
          <a:bodyPr/>
          <a:lstStyle/>
          <a:p>
            <a:endParaRPr lang="en-US"/>
          </a:p>
        </p:txBody>
      </p:sp>
      <p:sp>
        <p:nvSpPr>
          <p:cNvPr id="14" name="Text 12"/>
          <p:cNvSpPr/>
          <p:nvPr/>
        </p:nvSpPr>
        <p:spPr>
          <a:xfrm>
            <a:off x="3566160" y="1239012"/>
            <a:ext cx="2240280" cy="274320"/>
          </a:xfrm>
          <a:prstGeom prst="rect">
            <a:avLst/>
          </a:prstGeom>
          <a:noFill/>
          <a:ln/>
        </p:spPr>
        <p:txBody>
          <a:bodyPr wrap="square" lIns="0" tIns="0" rIns="0" bIns="0" rtlCol="0" anchor="ctr"/>
          <a:lstStyle/>
          <a:p>
            <a:pPr marL="0" indent="0">
              <a:buNone/>
            </a:pPr>
            <a:r>
              <a:rPr lang="en-US" sz="1300" dirty="0">
                <a:solidFill>
                  <a:srgbClr val="2D4A3E"/>
                </a:solidFill>
                <a:latin typeface="Georgia" pitchFamily="34" charset="0"/>
                <a:ea typeface="Georgia" pitchFamily="34" charset="-122"/>
                <a:cs typeface="Georgia" pitchFamily="34" charset="-120"/>
              </a:rPr>
              <a:t>Random Forest</a:t>
            </a:r>
            <a:endParaRPr lang="en-US" sz="1300" dirty="0"/>
          </a:p>
        </p:txBody>
      </p:sp>
      <p:sp>
        <p:nvSpPr>
          <p:cNvPr id="15" name="Text 13"/>
          <p:cNvSpPr/>
          <p:nvPr/>
        </p:nvSpPr>
        <p:spPr>
          <a:xfrm>
            <a:off x="3566160" y="1577340"/>
            <a:ext cx="2240280" cy="164592"/>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Accuracy</a:t>
            </a:r>
            <a:endParaRPr lang="en-US" sz="1100" dirty="0"/>
          </a:p>
        </p:txBody>
      </p:sp>
      <p:sp>
        <p:nvSpPr>
          <p:cNvPr id="16" name="Text 14"/>
          <p:cNvSpPr/>
          <p:nvPr/>
        </p:nvSpPr>
        <p:spPr>
          <a:xfrm>
            <a:off x="3566160" y="1723644"/>
            <a:ext cx="2240280" cy="18288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0.9931 ± 0.0007</a:t>
            </a:r>
            <a:endParaRPr lang="en-US" sz="1100" dirty="0"/>
          </a:p>
        </p:txBody>
      </p:sp>
      <p:sp>
        <p:nvSpPr>
          <p:cNvPr id="17" name="Text 15"/>
          <p:cNvSpPr/>
          <p:nvPr/>
        </p:nvSpPr>
        <p:spPr>
          <a:xfrm>
            <a:off x="3566160" y="1924812"/>
            <a:ext cx="2240280" cy="164592"/>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F1 Score</a:t>
            </a:r>
            <a:endParaRPr lang="en-US" sz="1100" dirty="0"/>
          </a:p>
        </p:txBody>
      </p:sp>
      <p:sp>
        <p:nvSpPr>
          <p:cNvPr id="18" name="Text 16"/>
          <p:cNvSpPr/>
          <p:nvPr/>
        </p:nvSpPr>
        <p:spPr>
          <a:xfrm>
            <a:off x="3566160" y="2071116"/>
            <a:ext cx="2240280" cy="18288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0.9708 ± 0.0029</a:t>
            </a:r>
            <a:endParaRPr lang="en-US" sz="1100" dirty="0"/>
          </a:p>
        </p:txBody>
      </p:sp>
      <p:sp>
        <p:nvSpPr>
          <p:cNvPr id="19" name="Text 17"/>
          <p:cNvSpPr/>
          <p:nvPr/>
        </p:nvSpPr>
        <p:spPr>
          <a:xfrm>
            <a:off x="3566160" y="2272284"/>
            <a:ext cx="2240280" cy="164592"/>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ROC-AUC</a:t>
            </a:r>
            <a:endParaRPr lang="en-US" sz="1100" dirty="0"/>
          </a:p>
        </p:txBody>
      </p:sp>
      <p:sp>
        <p:nvSpPr>
          <p:cNvPr id="20" name="Text 18"/>
          <p:cNvSpPr/>
          <p:nvPr/>
        </p:nvSpPr>
        <p:spPr>
          <a:xfrm>
            <a:off x="3566160" y="2418588"/>
            <a:ext cx="2240280" cy="18288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0.9873 ± 0.0010</a:t>
            </a:r>
            <a:endParaRPr lang="en-US" sz="1100" dirty="0"/>
          </a:p>
        </p:txBody>
      </p:sp>
      <p:sp>
        <p:nvSpPr>
          <p:cNvPr id="21" name="Shape 19"/>
          <p:cNvSpPr/>
          <p:nvPr/>
        </p:nvSpPr>
        <p:spPr>
          <a:xfrm>
            <a:off x="6263640" y="1165860"/>
            <a:ext cx="2606040" cy="1554480"/>
          </a:xfrm>
          <a:prstGeom prst="rect">
            <a:avLst/>
          </a:prstGeom>
          <a:solidFill>
            <a:srgbClr val="F9EDE3"/>
          </a:solidFill>
          <a:ln/>
        </p:spPr>
        <p:txBody>
          <a:bodyPr/>
          <a:lstStyle/>
          <a:p>
            <a:endParaRPr lang="en-US"/>
          </a:p>
        </p:txBody>
      </p:sp>
      <p:sp>
        <p:nvSpPr>
          <p:cNvPr id="22" name="Text 20"/>
          <p:cNvSpPr/>
          <p:nvPr/>
        </p:nvSpPr>
        <p:spPr>
          <a:xfrm>
            <a:off x="6446520" y="1239012"/>
            <a:ext cx="2240280" cy="274320"/>
          </a:xfrm>
          <a:prstGeom prst="rect">
            <a:avLst/>
          </a:prstGeom>
          <a:noFill/>
          <a:ln/>
        </p:spPr>
        <p:txBody>
          <a:bodyPr wrap="square" lIns="0" tIns="0" rIns="0" bIns="0" rtlCol="0" anchor="ctr"/>
          <a:lstStyle/>
          <a:p>
            <a:pPr marL="0" indent="0">
              <a:buNone/>
            </a:pPr>
            <a:r>
              <a:rPr lang="en-US" sz="1300" dirty="0">
                <a:solidFill>
                  <a:srgbClr val="9E5A30"/>
                </a:solidFill>
                <a:latin typeface="Georgia" pitchFamily="34" charset="0"/>
                <a:ea typeface="Georgia" pitchFamily="34" charset="-122"/>
                <a:cs typeface="Georgia" pitchFamily="34" charset="-120"/>
              </a:rPr>
              <a:t>LightGBM</a:t>
            </a:r>
            <a:endParaRPr lang="en-US" sz="1300" dirty="0"/>
          </a:p>
        </p:txBody>
      </p:sp>
      <p:sp>
        <p:nvSpPr>
          <p:cNvPr id="23" name="Text 21"/>
          <p:cNvSpPr/>
          <p:nvPr/>
        </p:nvSpPr>
        <p:spPr>
          <a:xfrm>
            <a:off x="6446520" y="1577340"/>
            <a:ext cx="2240280" cy="164592"/>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Accuracy</a:t>
            </a:r>
            <a:endParaRPr lang="en-US" sz="1100" dirty="0"/>
          </a:p>
        </p:txBody>
      </p:sp>
      <p:sp>
        <p:nvSpPr>
          <p:cNvPr id="24" name="Text 22"/>
          <p:cNvSpPr/>
          <p:nvPr/>
        </p:nvSpPr>
        <p:spPr>
          <a:xfrm>
            <a:off x="6446520" y="1723644"/>
            <a:ext cx="2240280" cy="18288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0.9944 ± 0.0006</a:t>
            </a:r>
            <a:endParaRPr lang="en-US" sz="1100" dirty="0"/>
          </a:p>
        </p:txBody>
      </p:sp>
      <p:sp>
        <p:nvSpPr>
          <p:cNvPr id="25" name="Text 23"/>
          <p:cNvSpPr/>
          <p:nvPr/>
        </p:nvSpPr>
        <p:spPr>
          <a:xfrm>
            <a:off x="6446520" y="1924812"/>
            <a:ext cx="2240280" cy="164592"/>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F1 Score</a:t>
            </a:r>
            <a:endParaRPr lang="en-US" sz="1100" dirty="0"/>
          </a:p>
        </p:txBody>
      </p:sp>
      <p:sp>
        <p:nvSpPr>
          <p:cNvPr id="26" name="Text 24"/>
          <p:cNvSpPr/>
          <p:nvPr/>
        </p:nvSpPr>
        <p:spPr>
          <a:xfrm>
            <a:off x="6446520" y="2071116"/>
            <a:ext cx="2240280" cy="18288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0.9765 ± 0.0025</a:t>
            </a:r>
            <a:endParaRPr lang="en-US" sz="1100" dirty="0"/>
          </a:p>
        </p:txBody>
      </p:sp>
      <p:sp>
        <p:nvSpPr>
          <p:cNvPr id="27" name="Text 25"/>
          <p:cNvSpPr/>
          <p:nvPr/>
        </p:nvSpPr>
        <p:spPr>
          <a:xfrm>
            <a:off x="6446520" y="2272284"/>
            <a:ext cx="2240280" cy="164592"/>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ROC-AUC</a:t>
            </a:r>
            <a:endParaRPr lang="en-US" sz="1100" dirty="0"/>
          </a:p>
        </p:txBody>
      </p:sp>
      <p:sp>
        <p:nvSpPr>
          <p:cNvPr id="28" name="Text 26"/>
          <p:cNvSpPr/>
          <p:nvPr/>
        </p:nvSpPr>
        <p:spPr>
          <a:xfrm>
            <a:off x="6446520" y="2418588"/>
            <a:ext cx="2240280" cy="18288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0.9884 ± 0.0013</a:t>
            </a:r>
            <a:endParaRPr lang="en-US" sz="1100" dirty="0"/>
          </a:p>
        </p:txBody>
      </p:sp>
      <p:sp>
        <p:nvSpPr>
          <p:cNvPr id="29" name="Text 27"/>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7A8A80"/>
                </a:solidFill>
                <a:latin typeface="Calibri" pitchFamily="34" charset="0"/>
                <a:ea typeface="Calibri" pitchFamily="34" charset="-122"/>
                <a:cs typeface="Calibri" pitchFamily="34" charset="-120"/>
              </a:rPr>
              <a:t>8</a:t>
            </a:r>
            <a:endParaRPr lang="en-US" sz="900" dirty="0"/>
          </a:p>
        </p:txBody>
      </p:sp>
      <p:pic>
        <p:nvPicPr>
          <p:cNvPr id="30" name="Picture 29" descr="cv_bars.jpeg"/>
          <p:cNvPicPr>
            <a:picLocks noChangeAspect="1"/>
          </p:cNvPicPr>
          <p:nvPr/>
        </p:nvPicPr>
        <p:blipFill>
          <a:blip r:embed="rId3"/>
          <a:stretch>
            <a:fillRect/>
          </a:stretch>
        </p:blipFill>
        <p:spPr>
          <a:xfrm>
            <a:off x="640080" y="2706625"/>
            <a:ext cx="7863840" cy="243687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D"/>
        </a:solidFill>
        <a:effectLst/>
      </p:bgPr>
    </p:bg>
    <p:spTree>
      <p:nvGrpSpPr>
        <p:cNvPr id="1" name=""/>
        <p:cNvGrpSpPr/>
        <p:nvPr/>
      </p:nvGrpSpPr>
      <p:grpSpPr>
        <a:xfrm>
          <a:off x="0" y="0"/>
          <a:ext cx="0" cy="0"/>
          <a:chOff x="0" y="0"/>
          <a:chExt cx="0" cy="0"/>
        </a:xfrm>
      </p:grpSpPr>
      <p:sp>
        <p:nvSpPr>
          <p:cNvPr id="2" name="Text 0"/>
          <p:cNvSpPr/>
          <p:nvPr/>
        </p:nvSpPr>
        <p:spPr>
          <a:xfrm>
            <a:off x="640080" y="91440"/>
            <a:ext cx="4572000" cy="22860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SHAP ANALYSIS</a:t>
            </a:r>
            <a:endParaRPr lang="en-US" sz="1000" dirty="0"/>
          </a:p>
        </p:txBody>
      </p:sp>
      <p:sp>
        <p:nvSpPr>
          <p:cNvPr id="3" name="Text 1"/>
          <p:cNvSpPr/>
          <p:nvPr/>
        </p:nvSpPr>
        <p:spPr>
          <a:xfrm>
            <a:off x="640080" y="365760"/>
            <a:ext cx="7315200" cy="411480"/>
          </a:xfrm>
          <a:prstGeom prst="rect">
            <a:avLst/>
          </a:prstGeom>
          <a:noFill/>
          <a:ln/>
        </p:spPr>
        <p:txBody>
          <a:bodyPr wrap="square" lIns="0" tIns="0" rIns="0" bIns="0" rtlCol="0" anchor="ctr"/>
          <a:lstStyle/>
          <a:p>
            <a:pPr marL="0" indent="0">
              <a:buNone/>
            </a:pPr>
            <a:r>
              <a:rPr lang="en-US" sz="2400" dirty="0">
                <a:solidFill>
                  <a:srgbClr val="1A1A1A"/>
                </a:solidFill>
                <a:latin typeface="Georgia" pitchFamily="34" charset="0"/>
                <a:ea typeface="Georgia" pitchFamily="34" charset="-122"/>
                <a:cs typeface="Georgia" pitchFamily="34" charset="-120"/>
              </a:rPr>
              <a:t>Model interpretability</a:t>
            </a:r>
            <a:endParaRPr lang="en-US" sz="2400" dirty="0"/>
          </a:p>
        </p:txBody>
      </p:sp>
      <p:sp>
        <p:nvSpPr>
          <p:cNvPr id="4" name="Text 2"/>
          <p:cNvSpPr/>
          <p:nvPr/>
        </p:nvSpPr>
        <p:spPr>
          <a:xfrm>
            <a:off x="548640" y="685800"/>
            <a:ext cx="7863840" cy="365760"/>
          </a:xfrm>
          <a:prstGeom prst="rect">
            <a:avLst/>
          </a:prstGeom>
          <a:noFill/>
          <a:ln/>
        </p:spPr>
        <p:txBody>
          <a:bodyPr wrap="square" rtlCol="0" anchor="ctr"/>
          <a:lstStyle/>
          <a:p>
            <a:pPr marL="0" indent="0">
              <a:lnSpc>
                <a:spcPct val="130000"/>
              </a:lnSpc>
              <a:buNone/>
            </a:pPr>
            <a:r>
              <a:rPr lang="en-US" sz="1200" dirty="0">
                <a:solidFill>
                  <a:srgbClr val="7A8A80"/>
                </a:solidFill>
                <a:latin typeface="Calibri" pitchFamily="34" charset="0"/>
                <a:ea typeface="Calibri" pitchFamily="34" charset="-122"/>
                <a:cs typeface="Calibri" pitchFamily="34" charset="-120"/>
              </a:rPr>
              <a:t>SHAP values computed on 2,000-row test sample for LR (LinearExplainer), XGBoost and LightGBM (TreeExplainer).</a:t>
            </a:r>
            <a:endParaRPr lang="en-US" sz="1200" dirty="0"/>
          </a:p>
        </p:txBody>
      </p:sp>
      <p:sp>
        <p:nvSpPr>
          <p:cNvPr id="5" name="Shape 3"/>
          <p:cNvSpPr/>
          <p:nvPr/>
        </p:nvSpPr>
        <p:spPr>
          <a:xfrm>
            <a:off x="640080" y="1097280"/>
            <a:ext cx="8046720" cy="640080"/>
          </a:xfrm>
          <a:prstGeom prst="rect">
            <a:avLst/>
          </a:prstGeom>
          <a:solidFill>
            <a:srgbClr val="2D4A3E"/>
          </a:solidFill>
          <a:ln/>
        </p:spPr>
        <p:txBody>
          <a:bodyPr/>
          <a:lstStyle/>
          <a:p>
            <a:endParaRPr lang="en-US"/>
          </a:p>
        </p:txBody>
      </p:sp>
      <p:sp>
        <p:nvSpPr>
          <p:cNvPr id="6" name="Text 4"/>
          <p:cNvSpPr/>
          <p:nvPr/>
        </p:nvSpPr>
        <p:spPr>
          <a:xfrm>
            <a:off x="914400" y="1097280"/>
            <a:ext cx="7498080" cy="640080"/>
          </a:xfrm>
          <a:prstGeom prst="rect">
            <a:avLst/>
          </a:prstGeom>
          <a:noFill/>
          <a:ln/>
        </p:spPr>
        <p:txBody>
          <a:bodyPr wrap="square" rtlCol="0" anchor="ctr"/>
          <a:lstStyle/>
          <a:p>
            <a:pPr marL="0" indent="0">
              <a:buNone/>
            </a:pPr>
            <a:r>
              <a:rPr lang="en-US" sz="1200" b="1" dirty="0">
                <a:solidFill>
                  <a:srgbClr val="F7F3ED"/>
                </a:solidFill>
                <a:latin typeface="Calibri" pitchFamily="34" charset="0"/>
                <a:ea typeface="Calibri" pitchFamily="34" charset="-122"/>
                <a:cs typeface="Calibri" pitchFamily="34" charset="-120"/>
              </a:rPr>
              <a:t>Key finding: Text and ingredient features contribute approximately equally to predictions across all three models.</a:t>
            </a:r>
            <a:endParaRPr lang="en-US" sz="1200" dirty="0"/>
          </a:p>
        </p:txBody>
      </p:sp>
      <p:sp>
        <p:nvSpPr>
          <p:cNvPr id="7" name="Shape 5"/>
          <p:cNvSpPr/>
          <p:nvPr/>
        </p:nvSpPr>
        <p:spPr>
          <a:xfrm>
            <a:off x="6126480" y="1867877"/>
            <a:ext cx="2560320" cy="3115601"/>
          </a:xfrm>
          <a:prstGeom prst="rect">
            <a:avLst/>
          </a:prstGeom>
          <a:solidFill>
            <a:srgbClr val="FFFFFF"/>
          </a:solidFill>
          <a:ln/>
        </p:spPr>
        <p:txBody>
          <a:bodyPr/>
          <a:lstStyle/>
          <a:p>
            <a:endParaRPr lang="en-US"/>
          </a:p>
        </p:txBody>
      </p:sp>
      <p:sp>
        <p:nvSpPr>
          <p:cNvPr id="8" name="Text 6"/>
          <p:cNvSpPr/>
          <p:nvPr/>
        </p:nvSpPr>
        <p:spPr>
          <a:xfrm>
            <a:off x="6309360" y="2004685"/>
            <a:ext cx="2194560" cy="228600"/>
          </a:xfrm>
          <a:prstGeom prst="rect">
            <a:avLst/>
          </a:prstGeom>
          <a:noFill/>
          <a:ln/>
        </p:spPr>
        <p:txBody>
          <a:bodyPr wrap="square" lIns="0" tIns="0" rIns="0" bIns="0" rtlCol="0" anchor="ctr"/>
          <a:lstStyle/>
          <a:p>
            <a:pPr marL="0" indent="0">
              <a:buNone/>
            </a:pPr>
            <a:r>
              <a:rPr lang="en-US" sz="1100" b="1" dirty="0">
                <a:solidFill>
                  <a:srgbClr val="2D4A3E"/>
                </a:solidFill>
                <a:latin typeface="Georgia" pitchFamily="34" charset="0"/>
                <a:ea typeface="Georgia" pitchFamily="34" charset="-122"/>
                <a:cs typeface="Georgia" pitchFamily="34" charset="-120"/>
              </a:rPr>
              <a:t>SHAP highlights</a:t>
            </a:r>
            <a:endParaRPr lang="en-US" sz="1100" dirty="0"/>
          </a:p>
        </p:txBody>
      </p:sp>
      <p:sp>
        <p:nvSpPr>
          <p:cNvPr id="9" name="Text 7"/>
          <p:cNvSpPr/>
          <p:nvPr/>
        </p:nvSpPr>
        <p:spPr>
          <a:xfrm>
            <a:off x="6309360" y="2419487"/>
            <a:ext cx="2194560" cy="2377789"/>
          </a:xfrm>
          <a:prstGeom prst="rect">
            <a:avLst/>
          </a:prstGeom>
          <a:noFill/>
          <a:ln/>
        </p:spPr>
        <p:txBody>
          <a:bodyPr wrap="square" lIns="0" tIns="0" rIns="0" bIns="0" rtlCol="0" anchor="ctr"/>
          <a:lstStyle/>
          <a:p>
            <a:pPr marL="0" indent="0">
              <a:lnSpc>
                <a:spcPct val="130000"/>
              </a:lnSpc>
              <a:buNone/>
            </a:pPr>
            <a:r>
              <a:rPr lang="en-US" sz="1000" dirty="0">
                <a:solidFill>
                  <a:srgbClr val="1A1A1A"/>
                </a:solidFill>
                <a:latin typeface="Calibri" pitchFamily="34" charset="0"/>
                <a:ea typeface="Calibri" pitchFamily="34" charset="-122"/>
                <a:cs typeface="Calibri" pitchFamily="34" charset="-120"/>
              </a:rPr>
              <a:t>LR: skin_type_combination leads mean |SHAP| (1.97), followed by 'breakouts' (1.59) and skin_type_dry (1.22). Sentiment features rank 10–15.</a:t>
            </a:r>
            <a:endParaRPr lang="en-US" sz="1000" dirty="0"/>
          </a:p>
          <a:p>
            <a:pPr marL="0" indent="0">
              <a:lnSpc>
                <a:spcPct val="130000"/>
              </a:lnSpc>
              <a:buNone/>
            </a:pPr>
            <a:endParaRPr lang="en-US" sz="1000" dirty="0"/>
          </a:p>
          <a:p>
            <a:pPr marL="0" indent="0">
              <a:lnSpc>
                <a:spcPct val="130000"/>
              </a:lnSpc>
              <a:buNone/>
            </a:pPr>
            <a:r>
              <a:rPr lang="en-US" sz="1000" dirty="0">
                <a:solidFill>
                  <a:srgbClr val="1A1A1A"/>
                </a:solidFill>
                <a:latin typeface="Calibri" pitchFamily="34" charset="0"/>
                <a:ea typeface="Calibri" pitchFamily="34" charset="-122"/>
                <a:cs typeface="Calibri" pitchFamily="34" charset="-120"/>
              </a:rPr>
              <a:t>XGBoost: SHAP values up to +9. 'Switch'/'switched' emerge as behavioral signals.</a:t>
            </a:r>
          </a:p>
          <a:p>
            <a:pPr marL="0" indent="0">
              <a:lnSpc>
                <a:spcPct val="130000"/>
              </a:lnSpc>
              <a:buNone/>
            </a:pPr>
            <a:endParaRPr lang="en-US" sz="1000" dirty="0"/>
          </a:p>
          <a:p>
            <a:pPr marL="0" indent="0">
              <a:lnSpc>
                <a:spcPct val="130000"/>
              </a:lnSpc>
              <a:buNone/>
            </a:pPr>
            <a:r>
              <a:rPr lang="en-US" sz="1000" dirty="0">
                <a:solidFill>
                  <a:srgbClr val="1A1A1A"/>
                </a:solidFill>
                <a:latin typeface="Calibri" pitchFamily="34" charset="0"/>
                <a:ea typeface="Calibri" pitchFamily="34" charset="-122"/>
                <a:cs typeface="Calibri" pitchFamily="34" charset="-120"/>
              </a:rPr>
              <a:t>LightGBM: Largest |SHAP| overall. 'Sensitive' and 'love' show bidirectional effects.</a:t>
            </a:r>
            <a:endParaRPr lang="en-US" sz="1000" dirty="0"/>
          </a:p>
        </p:txBody>
      </p:sp>
      <p:sp>
        <p:nvSpPr>
          <p:cNvPr id="10" name="Text 8"/>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7A8A80"/>
                </a:solidFill>
                <a:latin typeface="Calibri" pitchFamily="34" charset="0"/>
                <a:ea typeface="Calibri" pitchFamily="34" charset="-122"/>
                <a:cs typeface="Calibri" pitchFamily="34" charset="-120"/>
              </a:rPr>
              <a:t>9</a:t>
            </a:r>
            <a:endParaRPr lang="en-US" sz="900" dirty="0"/>
          </a:p>
        </p:txBody>
      </p:sp>
      <p:pic>
        <p:nvPicPr>
          <p:cNvPr id="11" name="Picture 10" descr="shap_lr.jpeg"/>
          <p:cNvPicPr>
            <a:picLocks noChangeAspect="1"/>
          </p:cNvPicPr>
          <p:nvPr/>
        </p:nvPicPr>
        <p:blipFill>
          <a:blip r:embed="rId3"/>
          <a:stretch>
            <a:fillRect/>
          </a:stretch>
        </p:blipFill>
        <p:spPr>
          <a:xfrm>
            <a:off x="100084" y="1867878"/>
            <a:ext cx="2917437" cy="3115602"/>
          </a:xfrm>
          <a:prstGeom prst="rect">
            <a:avLst/>
          </a:prstGeom>
        </p:spPr>
      </p:pic>
      <p:pic>
        <p:nvPicPr>
          <p:cNvPr id="12" name="Picture 11" descr="shap_lr_bar.jpeg"/>
          <p:cNvPicPr>
            <a:picLocks noChangeAspect="1"/>
          </p:cNvPicPr>
          <p:nvPr/>
        </p:nvPicPr>
        <p:blipFill>
          <a:blip r:embed="rId4"/>
          <a:stretch>
            <a:fillRect/>
          </a:stretch>
        </p:blipFill>
        <p:spPr>
          <a:xfrm>
            <a:off x="3109740" y="1867878"/>
            <a:ext cx="2917435" cy="311560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4572000" cy="22860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INTERACTIVE DASHBOARD</a:t>
            </a:r>
            <a:endParaRPr lang="en-US" sz="1000" dirty="0"/>
          </a:p>
        </p:txBody>
      </p:sp>
      <p:sp>
        <p:nvSpPr>
          <p:cNvPr id="3" name="Text 1"/>
          <p:cNvSpPr/>
          <p:nvPr/>
        </p:nvSpPr>
        <p:spPr>
          <a:xfrm>
            <a:off x="640080" y="685800"/>
            <a:ext cx="7315200" cy="411480"/>
          </a:xfrm>
          <a:prstGeom prst="rect">
            <a:avLst/>
          </a:prstGeom>
          <a:noFill/>
          <a:ln/>
        </p:spPr>
        <p:txBody>
          <a:bodyPr wrap="square" lIns="0" tIns="0" rIns="0" bIns="0" rtlCol="0" anchor="ctr"/>
          <a:lstStyle/>
          <a:p>
            <a:pPr marL="0" indent="0">
              <a:buNone/>
            </a:pPr>
            <a:r>
              <a:rPr lang="en-US" sz="2400" dirty="0">
                <a:solidFill>
                  <a:srgbClr val="1A1A1A"/>
                </a:solidFill>
                <a:latin typeface="Georgia" pitchFamily="34" charset="0"/>
                <a:ea typeface="Georgia" pitchFamily="34" charset="-122"/>
                <a:cs typeface="Georgia" pitchFamily="34" charset="-120"/>
              </a:rPr>
              <a:t>From model to product</a:t>
            </a:r>
            <a:endParaRPr lang="en-US" sz="2400" dirty="0"/>
          </a:p>
        </p:txBody>
      </p:sp>
      <p:sp>
        <p:nvSpPr>
          <p:cNvPr id="4" name="Text 2"/>
          <p:cNvSpPr/>
          <p:nvPr/>
        </p:nvSpPr>
        <p:spPr>
          <a:xfrm>
            <a:off x="640080" y="1143000"/>
            <a:ext cx="7863840" cy="320040"/>
          </a:xfrm>
          <a:prstGeom prst="rect">
            <a:avLst/>
          </a:prstGeom>
          <a:noFill/>
          <a:ln/>
        </p:spPr>
        <p:txBody>
          <a:bodyPr wrap="square" rtlCol="0" anchor="ctr"/>
          <a:lstStyle/>
          <a:p>
            <a:pPr marL="0" indent="0">
              <a:buNone/>
            </a:pPr>
            <a:r>
              <a:rPr lang="en-US" sz="1200" dirty="0">
                <a:solidFill>
                  <a:srgbClr val="7A8A80"/>
                </a:solidFill>
                <a:latin typeface="Calibri" pitchFamily="34" charset="0"/>
                <a:ea typeface="Calibri" pitchFamily="34" charset="-122"/>
                <a:cs typeface="Calibri" pitchFamily="34" charset="-120"/>
              </a:rPr>
              <a:t>Streamlit-powered recommendation engine making model outputs accessible without technical expertise.</a:t>
            </a:r>
            <a:endParaRPr lang="en-US" sz="1200" dirty="0"/>
          </a:p>
        </p:txBody>
      </p:sp>
      <p:sp>
        <p:nvSpPr>
          <p:cNvPr id="5" name="Shape 3"/>
          <p:cNvSpPr/>
          <p:nvPr/>
        </p:nvSpPr>
        <p:spPr>
          <a:xfrm>
            <a:off x="3063240" y="2596896"/>
            <a:ext cx="2606040" cy="777240"/>
          </a:xfrm>
          <a:prstGeom prst="rect">
            <a:avLst/>
          </a:prstGeom>
          <a:solidFill>
            <a:srgbClr val="E8EEEA"/>
          </a:solidFill>
          <a:ln/>
        </p:spPr>
        <p:txBody>
          <a:bodyPr/>
          <a:lstStyle/>
          <a:p>
            <a:endParaRPr lang="en-US"/>
          </a:p>
        </p:txBody>
      </p:sp>
      <p:sp>
        <p:nvSpPr>
          <p:cNvPr id="6" name="Text 4"/>
          <p:cNvSpPr/>
          <p:nvPr/>
        </p:nvSpPr>
        <p:spPr>
          <a:xfrm>
            <a:off x="822960" y="1737360"/>
            <a:ext cx="2240280" cy="22860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Skin type selector</a:t>
            </a:r>
            <a:endParaRPr lang="en-US" sz="1200" dirty="0"/>
          </a:p>
        </p:txBody>
      </p:sp>
      <p:sp>
        <p:nvSpPr>
          <p:cNvPr id="7" name="Text 5"/>
          <p:cNvSpPr/>
          <p:nvPr/>
        </p:nvSpPr>
        <p:spPr>
          <a:xfrm>
            <a:off x="822960" y="2011680"/>
            <a:ext cx="2240280" cy="274320"/>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All scores recalculate for selected type</a:t>
            </a:r>
            <a:endParaRPr lang="en-US" sz="1100" dirty="0"/>
          </a:p>
        </p:txBody>
      </p:sp>
      <p:sp>
        <p:nvSpPr>
          <p:cNvPr id="8" name="Shape 6"/>
          <p:cNvSpPr/>
          <p:nvPr/>
        </p:nvSpPr>
        <p:spPr>
          <a:xfrm>
            <a:off x="3520440" y="1645920"/>
            <a:ext cx="2606040" cy="777240"/>
          </a:xfrm>
          <a:prstGeom prst="rect">
            <a:avLst/>
          </a:prstGeom>
          <a:solidFill>
            <a:srgbClr val="F9EDE3"/>
          </a:solidFill>
          <a:ln/>
        </p:spPr>
        <p:txBody>
          <a:bodyPr/>
          <a:lstStyle/>
          <a:p>
            <a:endParaRPr lang="en-US"/>
          </a:p>
        </p:txBody>
      </p:sp>
      <p:sp>
        <p:nvSpPr>
          <p:cNvPr id="9" name="Text 7"/>
          <p:cNvSpPr/>
          <p:nvPr/>
        </p:nvSpPr>
        <p:spPr>
          <a:xfrm>
            <a:off x="3703320" y="1737360"/>
            <a:ext cx="2240280" cy="22860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Skin concerns</a:t>
            </a:r>
            <a:endParaRPr lang="en-US" sz="1200" dirty="0"/>
          </a:p>
        </p:txBody>
      </p:sp>
      <p:sp>
        <p:nvSpPr>
          <p:cNvPr id="10" name="Text 8"/>
          <p:cNvSpPr/>
          <p:nvPr/>
        </p:nvSpPr>
        <p:spPr>
          <a:xfrm>
            <a:off x="3703320" y="2011680"/>
            <a:ext cx="2240280" cy="274320"/>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6 categories mapped to beneficial ingredients</a:t>
            </a:r>
            <a:endParaRPr lang="en-US" sz="1100" dirty="0"/>
          </a:p>
        </p:txBody>
      </p:sp>
      <p:sp>
        <p:nvSpPr>
          <p:cNvPr id="11" name="Shape 9"/>
          <p:cNvSpPr/>
          <p:nvPr/>
        </p:nvSpPr>
        <p:spPr>
          <a:xfrm>
            <a:off x="6400800" y="1645920"/>
            <a:ext cx="2606040" cy="777240"/>
          </a:xfrm>
          <a:prstGeom prst="rect">
            <a:avLst/>
          </a:prstGeom>
          <a:solidFill>
            <a:srgbClr val="F7F3ED"/>
          </a:solidFill>
          <a:ln/>
        </p:spPr>
        <p:txBody>
          <a:bodyPr/>
          <a:lstStyle/>
          <a:p>
            <a:endParaRPr lang="en-US"/>
          </a:p>
        </p:txBody>
      </p:sp>
      <p:sp>
        <p:nvSpPr>
          <p:cNvPr id="12" name="Text 10"/>
          <p:cNvSpPr/>
          <p:nvPr/>
        </p:nvSpPr>
        <p:spPr>
          <a:xfrm>
            <a:off x="6583680" y="1737360"/>
            <a:ext cx="2240280" cy="22860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Ingredient search</a:t>
            </a:r>
            <a:endParaRPr lang="en-US" sz="1200" dirty="0"/>
          </a:p>
        </p:txBody>
      </p:sp>
      <p:sp>
        <p:nvSpPr>
          <p:cNvPr id="13" name="Text 11"/>
          <p:cNvSpPr/>
          <p:nvPr/>
        </p:nvSpPr>
        <p:spPr>
          <a:xfrm>
            <a:off x="6583680" y="2011680"/>
            <a:ext cx="2240280" cy="274320"/>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20 popular actives (Niacinamide, Vit C, HA...)</a:t>
            </a:r>
            <a:endParaRPr lang="en-US" sz="1100" dirty="0"/>
          </a:p>
        </p:txBody>
      </p:sp>
      <p:sp>
        <p:nvSpPr>
          <p:cNvPr id="14" name="Shape 12"/>
          <p:cNvSpPr/>
          <p:nvPr/>
        </p:nvSpPr>
        <p:spPr>
          <a:xfrm>
            <a:off x="640080" y="2606040"/>
            <a:ext cx="2606040" cy="777240"/>
          </a:xfrm>
          <a:prstGeom prst="rect">
            <a:avLst/>
          </a:prstGeom>
          <a:solidFill>
            <a:srgbClr val="F7F3ED"/>
          </a:solidFill>
          <a:ln/>
        </p:spPr>
        <p:txBody>
          <a:bodyPr/>
          <a:lstStyle/>
          <a:p>
            <a:endParaRPr lang="en-US"/>
          </a:p>
        </p:txBody>
      </p:sp>
      <p:sp>
        <p:nvSpPr>
          <p:cNvPr id="15" name="Text 13"/>
          <p:cNvSpPr/>
          <p:nvPr/>
        </p:nvSpPr>
        <p:spPr>
          <a:xfrm>
            <a:off x="822960" y="2697480"/>
            <a:ext cx="2240280" cy="22860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Allergen avoidance</a:t>
            </a:r>
            <a:endParaRPr lang="en-US" sz="1200" dirty="0"/>
          </a:p>
        </p:txBody>
      </p:sp>
      <p:sp>
        <p:nvSpPr>
          <p:cNvPr id="16" name="Text 14"/>
          <p:cNvSpPr/>
          <p:nvPr/>
        </p:nvSpPr>
        <p:spPr>
          <a:xfrm>
            <a:off x="822960" y="2971800"/>
            <a:ext cx="2240280" cy="274320"/>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10 checkboxes to exclude risky ingredients</a:t>
            </a:r>
            <a:endParaRPr lang="en-US" sz="1100" dirty="0"/>
          </a:p>
        </p:txBody>
      </p:sp>
      <p:sp>
        <p:nvSpPr>
          <p:cNvPr id="17" name="Shape 15"/>
          <p:cNvSpPr/>
          <p:nvPr/>
        </p:nvSpPr>
        <p:spPr>
          <a:xfrm>
            <a:off x="3520440" y="2606040"/>
            <a:ext cx="2606040" cy="777240"/>
          </a:xfrm>
          <a:prstGeom prst="rect">
            <a:avLst/>
          </a:prstGeom>
          <a:solidFill>
            <a:srgbClr val="E8EEEA"/>
          </a:solidFill>
          <a:ln/>
        </p:spPr>
        <p:txBody>
          <a:bodyPr/>
          <a:lstStyle/>
          <a:p>
            <a:endParaRPr lang="en-US"/>
          </a:p>
        </p:txBody>
      </p:sp>
      <p:sp>
        <p:nvSpPr>
          <p:cNvPr id="18" name="Text 16"/>
          <p:cNvSpPr/>
          <p:nvPr/>
        </p:nvSpPr>
        <p:spPr>
          <a:xfrm>
            <a:off x="3703320" y="2697480"/>
            <a:ext cx="2240280" cy="22860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Category &amp; price</a:t>
            </a:r>
            <a:endParaRPr lang="en-US" sz="1200" dirty="0"/>
          </a:p>
        </p:txBody>
      </p:sp>
      <p:sp>
        <p:nvSpPr>
          <p:cNvPr id="19" name="Text 17"/>
          <p:cNvSpPr/>
          <p:nvPr/>
        </p:nvSpPr>
        <p:spPr>
          <a:xfrm>
            <a:off x="3703320" y="2971800"/>
            <a:ext cx="2240280" cy="274320"/>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Filter by product type and price range</a:t>
            </a:r>
            <a:endParaRPr lang="en-US" sz="1100" dirty="0"/>
          </a:p>
        </p:txBody>
      </p:sp>
      <p:sp>
        <p:nvSpPr>
          <p:cNvPr id="20" name="Shape 18"/>
          <p:cNvSpPr/>
          <p:nvPr/>
        </p:nvSpPr>
        <p:spPr>
          <a:xfrm>
            <a:off x="6400800" y="2606040"/>
            <a:ext cx="2606040" cy="777240"/>
          </a:xfrm>
          <a:prstGeom prst="rect">
            <a:avLst/>
          </a:prstGeom>
          <a:solidFill>
            <a:srgbClr val="F9EDE3"/>
          </a:solidFill>
          <a:ln/>
        </p:spPr>
        <p:txBody>
          <a:bodyPr/>
          <a:lstStyle/>
          <a:p>
            <a:endParaRPr lang="en-US"/>
          </a:p>
        </p:txBody>
      </p:sp>
      <p:sp>
        <p:nvSpPr>
          <p:cNvPr id="21" name="Text 19"/>
          <p:cNvSpPr/>
          <p:nvPr/>
        </p:nvSpPr>
        <p:spPr>
          <a:xfrm>
            <a:off x="6583680" y="2697480"/>
            <a:ext cx="2240280" cy="22860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Paginated results</a:t>
            </a:r>
            <a:endParaRPr lang="en-US" sz="1200" dirty="0"/>
          </a:p>
        </p:txBody>
      </p:sp>
      <p:sp>
        <p:nvSpPr>
          <p:cNvPr id="22" name="Text 20"/>
          <p:cNvSpPr/>
          <p:nvPr/>
        </p:nvSpPr>
        <p:spPr>
          <a:xfrm>
            <a:off x="6583680" y="2971800"/>
            <a:ext cx="2240280" cy="274320"/>
          </a:xfrm>
          <a:prstGeom prst="rect">
            <a:avLst/>
          </a:prstGeom>
          <a:noFill/>
          <a:ln/>
        </p:spPr>
        <p:txBody>
          <a:bodyPr wrap="square" lIns="0" tIns="0" rIns="0" bIns="0" rtlCol="0" anchor="ctr"/>
          <a:lstStyle/>
          <a:p>
            <a:pPr marL="0" indent="0">
              <a:buNone/>
            </a:pPr>
            <a:r>
              <a:rPr lang="en-US" sz="1100" dirty="0">
                <a:solidFill>
                  <a:srgbClr val="7A8A80"/>
                </a:solidFill>
                <a:latin typeface="Calibri" pitchFamily="34" charset="0"/>
                <a:ea typeface="Calibri" pitchFamily="34" charset="-122"/>
                <a:cs typeface="Calibri" pitchFamily="34" charset="-120"/>
              </a:rPr>
              <a:t>Cards with badges, ratings, irritation rates</a:t>
            </a:r>
            <a:endParaRPr lang="en-US" sz="1100" dirty="0"/>
          </a:p>
        </p:txBody>
      </p:sp>
      <p:sp>
        <p:nvSpPr>
          <p:cNvPr id="23" name="Shape 21"/>
          <p:cNvSpPr/>
          <p:nvPr/>
        </p:nvSpPr>
        <p:spPr>
          <a:xfrm>
            <a:off x="640080" y="3703320"/>
            <a:ext cx="8046720" cy="1097280"/>
          </a:xfrm>
          <a:prstGeom prst="rect">
            <a:avLst/>
          </a:prstGeom>
          <a:solidFill>
            <a:srgbClr val="2D4A3E"/>
          </a:solidFill>
          <a:ln/>
        </p:spPr>
        <p:txBody>
          <a:bodyPr/>
          <a:lstStyle/>
          <a:p>
            <a:endParaRPr lang="en-US"/>
          </a:p>
        </p:txBody>
      </p:sp>
      <p:sp>
        <p:nvSpPr>
          <p:cNvPr id="24" name="Text 22"/>
          <p:cNvSpPr/>
          <p:nvPr/>
        </p:nvSpPr>
        <p:spPr>
          <a:xfrm>
            <a:off x="914400" y="3767328"/>
            <a:ext cx="2743200" cy="182880"/>
          </a:xfrm>
          <a:prstGeom prst="rect">
            <a:avLst/>
          </a:prstGeom>
          <a:noFill/>
          <a:ln/>
        </p:spPr>
        <p:txBody>
          <a:bodyPr wrap="square" lIns="0" tIns="0" rIns="0" bIns="0" rtlCol="0" anchor="ctr"/>
          <a:lstStyle/>
          <a:p>
            <a:pPr marL="0" indent="0">
              <a:buNone/>
            </a:pPr>
            <a:r>
              <a:rPr lang="en-US" sz="1000" kern="0" spc="200" dirty="0">
                <a:solidFill>
                  <a:srgbClr val="B8C9BC"/>
                </a:solidFill>
                <a:latin typeface="Calibri" pitchFamily="34" charset="0"/>
                <a:ea typeface="Calibri" pitchFamily="34" charset="-122"/>
                <a:cs typeface="Calibri" pitchFamily="34" charset="-120"/>
              </a:rPr>
              <a:t>SUITABILITY SCORE</a:t>
            </a:r>
            <a:endParaRPr lang="en-US" sz="1000" dirty="0"/>
          </a:p>
        </p:txBody>
      </p:sp>
      <p:sp>
        <p:nvSpPr>
          <p:cNvPr id="25" name="Text 23"/>
          <p:cNvSpPr/>
          <p:nvPr/>
        </p:nvSpPr>
        <p:spPr>
          <a:xfrm>
            <a:off x="914400" y="3977640"/>
            <a:ext cx="548640" cy="320040"/>
          </a:xfrm>
          <a:prstGeom prst="rect">
            <a:avLst/>
          </a:prstGeom>
          <a:noFill/>
          <a:ln/>
        </p:spPr>
        <p:txBody>
          <a:bodyPr wrap="square" lIns="0" tIns="0" rIns="0" bIns="0" rtlCol="0" anchor="ctr"/>
          <a:lstStyle/>
          <a:p>
            <a:pPr marL="0" indent="0">
              <a:buNone/>
            </a:pPr>
            <a:r>
              <a:rPr lang="en-US" sz="1800" b="1" dirty="0">
                <a:solidFill>
                  <a:srgbClr val="F7F3ED"/>
                </a:solidFill>
                <a:latin typeface="Georgia" pitchFamily="34" charset="0"/>
                <a:ea typeface="Georgia" pitchFamily="34" charset="-122"/>
                <a:cs typeface="Georgia" pitchFamily="34" charset="-120"/>
              </a:rPr>
              <a:t>40%</a:t>
            </a:r>
            <a:endParaRPr lang="en-US" sz="1800" dirty="0"/>
          </a:p>
        </p:txBody>
      </p:sp>
      <p:sp>
        <p:nvSpPr>
          <p:cNvPr id="26" name="Text 24"/>
          <p:cNvSpPr/>
          <p:nvPr/>
        </p:nvSpPr>
        <p:spPr>
          <a:xfrm>
            <a:off x="1508760" y="3977640"/>
            <a:ext cx="1645920" cy="182880"/>
          </a:xfrm>
          <a:prstGeom prst="rect">
            <a:avLst/>
          </a:prstGeom>
          <a:noFill/>
          <a:ln/>
        </p:spPr>
        <p:txBody>
          <a:bodyPr wrap="square" lIns="0" tIns="0" rIns="0" bIns="0" rtlCol="0" anchor="ctr"/>
          <a:lstStyle/>
          <a:p>
            <a:pPr marL="0" indent="0">
              <a:buNone/>
            </a:pPr>
            <a:r>
              <a:rPr lang="en-US" sz="1100" b="1" dirty="0">
                <a:solidFill>
                  <a:srgbClr val="F7F3ED"/>
                </a:solidFill>
                <a:latin typeface="Calibri" pitchFamily="34" charset="0"/>
                <a:ea typeface="Calibri" pitchFamily="34" charset="-122"/>
                <a:cs typeface="Calibri" pitchFamily="34" charset="-120"/>
              </a:rPr>
              <a:t>Safety</a:t>
            </a:r>
            <a:endParaRPr lang="en-US" sz="1100" dirty="0"/>
          </a:p>
        </p:txBody>
      </p:sp>
      <p:sp>
        <p:nvSpPr>
          <p:cNvPr id="27" name="Text 25"/>
          <p:cNvSpPr/>
          <p:nvPr/>
        </p:nvSpPr>
        <p:spPr>
          <a:xfrm>
            <a:off x="1508760" y="4160520"/>
            <a:ext cx="1645920" cy="18288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1 − Irritation Rate</a:t>
            </a:r>
            <a:endParaRPr lang="en-US" sz="1100" dirty="0"/>
          </a:p>
        </p:txBody>
      </p:sp>
      <p:sp>
        <p:nvSpPr>
          <p:cNvPr id="28" name="Text 26"/>
          <p:cNvSpPr/>
          <p:nvPr/>
        </p:nvSpPr>
        <p:spPr>
          <a:xfrm>
            <a:off x="3063240" y="4005072"/>
            <a:ext cx="274320" cy="274320"/>
          </a:xfrm>
          <a:prstGeom prst="rect">
            <a:avLst/>
          </a:prstGeom>
          <a:noFill/>
          <a:ln/>
        </p:spPr>
        <p:txBody>
          <a:bodyPr wrap="square" lIns="0" tIns="0" rIns="0" bIns="0" rtlCol="0" anchor="ctr"/>
          <a:lstStyle/>
          <a:p>
            <a:pPr marL="0" indent="0" algn="ctr">
              <a:buNone/>
            </a:pPr>
            <a:r>
              <a:rPr lang="en-US" sz="1600" dirty="0">
                <a:solidFill>
                  <a:srgbClr val="B8C9BC"/>
                </a:solidFill>
                <a:latin typeface="Georgia" pitchFamily="34" charset="0"/>
                <a:ea typeface="Georgia" pitchFamily="34" charset="-122"/>
                <a:cs typeface="Georgia" pitchFamily="34" charset="-120"/>
              </a:rPr>
              <a:t>+</a:t>
            </a:r>
            <a:endParaRPr lang="en-US" sz="1600" dirty="0"/>
          </a:p>
        </p:txBody>
      </p:sp>
      <p:sp>
        <p:nvSpPr>
          <p:cNvPr id="29" name="Text 27"/>
          <p:cNvSpPr/>
          <p:nvPr/>
        </p:nvSpPr>
        <p:spPr>
          <a:xfrm>
            <a:off x="3383280" y="3977640"/>
            <a:ext cx="548640" cy="320040"/>
          </a:xfrm>
          <a:prstGeom prst="rect">
            <a:avLst/>
          </a:prstGeom>
          <a:noFill/>
          <a:ln/>
        </p:spPr>
        <p:txBody>
          <a:bodyPr wrap="square" lIns="0" tIns="0" rIns="0" bIns="0" rtlCol="0" anchor="ctr"/>
          <a:lstStyle/>
          <a:p>
            <a:pPr marL="0" indent="0">
              <a:buNone/>
            </a:pPr>
            <a:r>
              <a:rPr lang="en-US" sz="1800" b="1" dirty="0">
                <a:solidFill>
                  <a:srgbClr val="F7F3ED"/>
                </a:solidFill>
                <a:latin typeface="Georgia" pitchFamily="34" charset="0"/>
                <a:ea typeface="Georgia" pitchFamily="34" charset="-122"/>
                <a:cs typeface="Georgia" pitchFamily="34" charset="-120"/>
              </a:rPr>
              <a:t>30%</a:t>
            </a:r>
            <a:endParaRPr lang="en-US" sz="1800" dirty="0"/>
          </a:p>
        </p:txBody>
      </p:sp>
      <p:sp>
        <p:nvSpPr>
          <p:cNvPr id="30" name="Text 28"/>
          <p:cNvSpPr/>
          <p:nvPr/>
        </p:nvSpPr>
        <p:spPr>
          <a:xfrm>
            <a:off x="3977640" y="3977640"/>
            <a:ext cx="1645920" cy="182880"/>
          </a:xfrm>
          <a:prstGeom prst="rect">
            <a:avLst/>
          </a:prstGeom>
          <a:noFill/>
          <a:ln/>
        </p:spPr>
        <p:txBody>
          <a:bodyPr wrap="square" lIns="0" tIns="0" rIns="0" bIns="0" rtlCol="0" anchor="ctr"/>
          <a:lstStyle/>
          <a:p>
            <a:pPr marL="0" indent="0">
              <a:buNone/>
            </a:pPr>
            <a:r>
              <a:rPr lang="en-US" sz="1100" b="1" dirty="0">
                <a:solidFill>
                  <a:srgbClr val="F7F3ED"/>
                </a:solidFill>
                <a:latin typeface="Calibri" pitchFamily="34" charset="0"/>
                <a:ea typeface="Calibri" pitchFamily="34" charset="-122"/>
                <a:cs typeface="Calibri" pitchFamily="34" charset="-120"/>
              </a:rPr>
              <a:t>Quality</a:t>
            </a:r>
            <a:endParaRPr lang="en-US" sz="1100" dirty="0"/>
          </a:p>
        </p:txBody>
      </p:sp>
      <p:sp>
        <p:nvSpPr>
          <p:cNvPr id="31" name="Text 29"/>
          <p:cNvSpPr/>
          <p:nvPr/>
        </p:nvSpPr>
        <p:spPr>
          <a:xfrm>
            <a:off x="3977640" y="4160520"/>
            <a:ext cx="1645920" cy="18288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Average Rating / 5</a:t>
            </a:r>
            <a:endParaRPr lang="en-US" sz="1100" dirty="0"/>
          </a:p>
        </p:txBody>
      </p:sp>
      <p:sp>
        <p:nvSpPr>
          <p:cNvPr id="32" name="Text 30"/>
          <p:cNvSpPr/>
          <p:nvPr/>
        </p:nvSpPr>
        <p:spPr>
          <a:xfrm>
            <a:off x="5532120" y="4005072"/>
            <a:ext cx="274320" cy="274320"/>
          </a:xfrm>
          <a:prstGeom prst="rect">
            <a:avLst/>
          </a:prstGeom>
          <a:noFill/>
          <a:ln/>
        </p:spPr>
        <p:txBody>
          <a:bodyPr wrap="square" lIns="0" tIns="0" rIns="0" bIns="0" rtlCol="0" anchor="ctr"/>
          <a:lstStyle/>
          <a:p>
            <a:pPr marL="0" indent="0" algn="ctr">
              <a:buNone/>
            </a:pPr>
            <a:r>
              <a:rPr lang="en-US" sz="1600" dirty="0">
                <a:solidFill>
                  <a:srgbClr val="B8C9BC"/>
                </a:solidFill>
                <a:latin typeface="Georgia" pitchFamily="34" charset="0"/>
                <a:ea typeface="Georgia" pitchFamily="34" charset="-122"/>
                <a:cs typeface="Georgia" pitchFamily="34" charset="-120"/>
              </a:rPr>
              <a:t>+</a:t>
            </a:r>
            <a:endParaRPr lang="en-US" sz="1600" dirty="0"/>
          </a:p>
        </p:txBody>
      </p:sp>
      <p:sp>
        <p:nvSpPr>
          <p:cNvPr id="33" name="Text 31"/>
          <p:cNvSpPr/>
          <p:nvPr/>
        </p:nvSpPr>
        <p:spPr>
          <a:xfrm>
            <a:off x="5852160" y="3977640"/>
            <a:ext cx="548640" cy="320040"/>
          </a:xfrm>
          <a:prstGeom prst="rect">
            <a:avLst/>
          </a:prstGeom>
          <a:noFill/>
          <a:ln/>
        </p:spPr>
        <p:txBody>
          <a:bodyPr wrap="square" lIns="0" tIns="0" rIns="0" bIns="0" rtlCol="0" anchor="ctr"/>
          <a:lstStyle/>
          <a:p>
            <a:pPr marL="0" indent="0">
              <a:buNone/>
            </a:pPr>
            <a:r>
              <a:rPr lang="en-US" sz="1800" b="1" dirty="0">
                <a:solidFill>
                  <a:srgbClr val="F7F3ED"/>
                </a:solidFill>
                <a:latin typeface="Georgia" pitchFamily="34" charset="0"/>
                <a:ea typeface="Georgia" pitchFamily="34" charset="-122"/>
                <a:cs typeface="Georgia" pitchFamily="34" charset="-120"/>
              </a:rPr>
              <a:t>30%</a:t>
            </a:r>
            <a:endParaRPr lang="en-US" sz="1800" dirty="0"/>
          </a:p>
        </p:txBody>
      </p:sp>
      <p:sp>
        <p:nvSpPr>
          <p:cNvPr id="34" name="Text 32"/>
          <p:cNvSpPr/>
          <p:nvPr/>
        </p:nvSpPr>
        <p:spPr>
          <a:xfrm>
            <a:off x="6446520" y="3977640"/>
            <a:ext cx="1645920" cy="182880"/>
          </a:xfrm>
          <a:prstGeom prst="rect">
            <a:avLst/>
          </a:prstGeom>
          <a:noFill/>
          <a:ln/>
        </p:spPr>
        <p:txBody>
          <a:bodyPr wrap="square" lIns="0" tIns="0" rIns="0" bIns="0" rtlCol="0" anchor="ctr"/>
          <a:lstStyle/>
          <a:p>
            <a:pPr marL="0" indent="0">
              <a:buNone/>
            </a:pPr>
            <a:r>
              <a:rPr lang="en-US" sz="1100" b="1" dirty="0">
                <a:solidFill>
                  <a:srgbClr val="F7F3ED"/>
                </a:solidFill>
                <a:latin typeface="Calibri" pitchFamily="34" charset="0"/>
                <a:ea typeface="Calibri" pitchFamily="34" charset="-122"/>
                <a:cs typeface="Calibri" pitchFamily="34" charset="-120"/>
              </a:rPr>
              <a:t>Endorsement</a:t>
            </a:r>
            <a:endParaRPr lang="en-US" sz="1100" dirty="0"/>
          </a:p>
        </p:txBody>
      </p:sp>
      <p:sp>
        <p:nvSpPr>
          <p:cNvPr id="35" name="Text 33"/>
          <p:cNvSpPr/>
          <p:nvPr/>
        </p:nvSpPr>
        <p:spPr>
          <a:xfrm>
            <a:off x="6446520" y="4160520"/>
            <a:ext cx="1645920" cy="18288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Recommendation Rate</a:t>
            </a:r>
            <a:endParaRPr lang="en-US" sz="1100" dirty="0"/>
          </a:p>
        </p:txBody>
      </p:sp>
      <p:sp>
        <p:nvSpPr>
          <p:cNvPr id="36" name="Text 34"/>
          <p:cNvSpPr/>
          <p:nvPr/>
        </p:nvSpPr>
        <p:spPr>
          <a:xfrm>
            <a:off x="914400" y="4434840"/>
            <a:ext cx="7498080" cy="274320"/>
          </a:xfrm>
          <a:prstGeom prst="rect">
            <a:avLst/>
          </a:prstGeom>
          <a:noFill/>
          <a:ln/>
        </p:spPr>
        <p:txBody>
          <a:bodyPr wrap="square" lIns="0" tIns="0" rIns="0" bIns="0" rtlCol="0" anchor="ctr"/>
          <a:lstStyle/>
          <a:p>
            <a:pPr marL="0" indent="0">
              <a:buNone/>
            </a:pPr>
            <a:r>
              <a:rPr lang="en-US" sz="1100" dirty="0">
                <a:solidFill>
                  <a:srgbClr val="B8C9BC"/>
                </a:solidFill>
                <a:latin typeface="Calibri" pitchFamily="34" charset="0"/>
                <a:ea typeface="Calibri" pitchFamily="34" charset="-122"/>
                <a:cs typeface="Calibri" pitchFamily="34" charset="-120"/>
              </a:rPr>
              <a:t>Score 0–100  ·  Computed per skin type  ·  85+ Excellent  ·  70–84 Good  ·  55–69 Fair  ·  &lt;55 Low</a:t>
            </a:r>
            <a:endParaRPr lang="en-US" sz="1100" dirty="0"/>
          </a:p>
        </p:txBody>
      </p:sp>
      <p:sp>
        <p:nvSpPr>
          <p:cNvPr id="37" name="Text 35"/>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7A8A80"/>
                </a:solidFill>
                <a:latin typeface="Calibri" pitchFamily="34" charset="0"/>
                <a:ea typeface="Calibri" pitchFamily="34" charset="-122"/>
                <a:cs typeface="Calibri" pitchFamily="34" charset="-120"/>
              </a:rPr>
              <a:t>10</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28600"/>
          </a:xfrm>
          <a:prstGeom prst="rect">
            <a:avLst/>
          </a:prstGeom>
          <a:noFill/>
          <a:ln/>
        </p:spPr>
        <p:txBody>
          <a:bodyPr wrap="square" lIns="0" tIns="0" rIns="0" bIns="0" rtlCol="0" anchor="ctr"/>
          <a:lstStyle/>
          <a:p>
            <a:pPr marL="0" indent="0">
              <a:buNone/>
            </a:pPr>
            <a:r>
              <a:rPr lang="en-US" sz="1000" kern="0" spc="300" dirty="0">
                <a:solidFill>
                  <a:srgbClr val="7A8A80"/>
                </a:solidFill>
                <a:latin typeface="Calibri" pitchFamily="34" charset="0"/>
                <a:ea typeface="Calibri" pitchFamily="34" charset="-122"/>
                <a:cs typeface="Calibri" pitchFamily="34" charset="-120"/>
              </a:rPr>
              <a:t>ANSWERS TO BUSINESS QUESTIONS</a:t>
            </a:r>
            <a:endParaRPr lang="en-US" sz="1000" dirty="0"/>
          </a:p>
        </p:txBody>
      </p:sp>
      <p:sp>
        <p:nvSpPr>
          <p:cNvPr id="3" name="Text 1"/>
          <p:cNvSpPr/>
          <p:nvPr/>
        </p:nvSpPr>
        <p:spPr>
          <a:xfrm>
            <a:off x="640080" y="685800"/>
            <a:ext cx="7315200" cy="411480"/>
          </a:xfrm>
          <a:prstGeom prst="rect">
            <a:avLst/>
          </a:prstGeom>
          <a:noFill/>
          <a:ln/>
        </p:spPr>
        <p:txBody>
          <a:bodyPr wrap="square" lIns="0" tIns="0" rIns="0" bIns="0" rtlCol="0" anchor="ctr"/>
          <a:lstStyle/>
          <a:p>
            <a:pPr marL="0" indent="0">
              <a:buNone/>
            </a:pPr>
            <a:r>
              <a:rPr lang="en-US" sz="2400" dirty="0">
                <a:solidFill>
                  <a:srgbClr val="1A1A1A"/>
                </a:solidFill>
                <a:latin typeface="Georgia" pitchFamily="34" charset="0"/>
                <a:ea typeface="Georgia" pitchFamily="34" charset="-122"/>
                <a:cs typeface="Georgia" pitchFamily="34" charset="-120"/>
              </a:rPr>
              <a:t>Tying it all together</a:t>
            </a:r>
            <a:endParaRPr lang="en-US" sz="2400" dirty="0"/>
          </a:p>
        </p:txBody>
      </p:sp>
      <p:sp>
        <p:nvSpPr>
          <p:cNvPr id="4" name="Shape 2"/>
          <p:cNvSpPr/>
          <p:nvPr/>
        </p:nvSpPr>
        <p:spPr>
          <a:xfrm>
            <a:off x="640080" y="1234440"/>
            <a:ext cx="8046720" cy="1143000"/>
          </a:xfrm>
          <a:prstGeom prst="rect">
            <a:avLst/>
          </a:prstGeom>
          <a:solidFill>
            <a:srgbClr val="E8EEEA"/>
          </a:solidFill>
          <a:ln/>
        </p:spPr>
        <p:txBody>
          <a:bodyPr/>
          <a:lstStyle/>
          <a:p>
            <a:endParaRPr lang="en-US"/>
          </a:p>
        </p:txBody>
      </p:sp>
      <p:sp>
        <p:nvSpPr>
          <p:cNvPr id="5" name="Text 3"/>
          <p:cNvSpPr/>
          <p:nvPr/>
        </p:nvSpPr>
        <p:spPr>
          <a:xfrm>
            <a:off x="868680" y="1298448"/>
            <a:ext cx="411480" cy="320040"/>
          </a:xfrm>
          <a:prstGeom prst="rect">
            <a:avLst/>
          </a:prstGeom>
          <a:noFill/>
          <a:ln/>
        </p:spPr>
        <p:txBody>
          <a:bodyPr wrap="square" lIns="0" tIns="0" rIns="0" bIns="0" rtlCol="0" anchor="ctr"/>
          <a:lstStyle/>
          <a:p>
            <a:pPr marL="0" indent="0">
              <a:buNone/>
            </a:pPr>
            <a:r>
              <a:rPr lang="en-US" sz="2000" b="1" dirty="0">
                <a:solidFill>
                  <a:srgbClr val="C2703E"/>
                </a:solidFill>
                <a:latin typeface="Georgia" pitchFamily="34" charset="0"/>
                <a:ea typeface="Georgia" pitchFamily="34" charset="-122"/>
                <a:cs typeface="Georgia" pitchFamily="34" charset="-120"/>
              </a:rPr>
              <a:t>01</a:t>
            </a:r>
            <a:endParaRPr lang="en-US" sz="2000" dirty="0"/>
          </a:p>
        </p:txBody>
      </p:sp>
      <p:sp>
        <p:nvSpPr>
          <p:cNvPr id="6" name="Text 4"/>
          <p:cNvSpPr/>
          <p:nvPr/>
        </p:nvSpPr>
        <p:spPr>
          <a:xfrm>
            <a:off x="1371600" y="1298448"/>
            <a:ext cx="7040880" cy="274320"/>
          </a:xfrm>
          <a:prstGeom prst="rect">
            <a:avLst/>
          </a:prstGeom>
          <a:noFill/>
          <a:ln/>
        </p:spPr>
        <p:txBody>
          <a:bodyPr wrap="square" lIns="0" tIns="0" rIns="0" bIns="0" rtlCol="0" anchor="ctr"/>
          <a:lstStyle/>
          <a:p>
            <a:pPr marL="0" indent="0">
              <a:buNone/>
            </a:pPr>
            <a:r>
              <a:rPr lang="en-US" sz="1300" b="1" dirty="0">
                <a:solidFill>
                  <a:srgbClr val="2D4A3E"/>
                </a:solidFill>
                <a:latin typeface="Georgia" pitchFamily="34" charset="0"/>
                <a:ea typeface="Georgia" pitchFamily="34" charset="-122"/>
                <a:cs typeface="Georgia" pitchFamily="34" charset="-120"/>
              </a:rPr>
              <a:t>Can ingredient composition predict irritation?</a:t>
            </a:r>
            <a:endParaRPr lang="en-US" sz="1300" dirty="0"/>
          </a:p>
        </p:txBody>
      </p:sp>
      <p:sp>
        <p:nvSpPr>
          <p:cNvPr id="7" name="Text 5"/>
          <p:cNvSpPr/>
          <p:nvPr/>
        </p:nvSpPr>
        <p:spPr>
          <a:xfrm>
            <a:off x="1371600" y="1600200"/>
            <a:ext cx="7040880" cy="713232"/>
          </a:xfrm>
          <a:prstGeom prst="rect">
            <a:avLst/>
          </a:prstGeom>
          <a:noFill/>
          <a:ln/>
        </p:spPr>
        <p:txBody>
          <a:bodyPr wrap="square" lIns="0" tIns="0" rIns="0" bIns="0" rtlCol="0" anchor="ctr"/>
          <a:lstStyle/>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Partially, but not in isolation. Enhanced structural features (interactions, toxicity, sentiment) achieved ROC-AUC ~0.76, up from 0.57 with basic flags. But combined with TF-IDF, SHAP shows ingredient and text features contribute approximately equally. Features like toxicity_score, allergen_count, and interaction flags (fragrance × alcohol) appear in SHAP rankings. Ingredients encode real safety info, amplified by review language.</a:t>
            </a:r>
            <a:endParaRPr lang="en-US" sz="1100" dirty="0"/>
          </a:p>
        </p:txBody>
      </p:sp>
      <p:sp>
        <p:nvSpPr>
          <p:cNvPr id="8" name="Shape 6"/>
          <p:cNvSpPr/>
          <p:nvPr/>
        </p:nvSpPr>
        <p:spPr>
          <a:xfrm>
            <a:off x="640080" y="2514600"/>
            <a:ext cx="8046720" cy="1143000"/>
          </a:xfrm>
          <a:prstGeom prst="rect">
            <a:avLst/>
          </a:prstGeom>
          <a:solidFill>
            <a:srgbClr val="F9EDE3"/>
          </a:solidFill>
          <a:ln/>
        </p:spPr>
        <p:txBody>
          <a:bodyPr/>
          <a:lstStyle/>
          <a:p>
            <a:endParaRPr lang="en-US"/>
          </a:p>
        </p:txBody>
      </p:sp>
      <p:sp>
        <p:nvSpPr>
          <p:cNvPr id="9" name="Text 7"/>
          <p:cNvSpPr/>
          <p:nvPr/>
        </p:nvSpPr>
        <p:spPr>
          <a:xfrm>
            <a:off x="868680" y="2578608"/>
            <a:ext cx="411480" cy="320040"/>
          </a:xfrm>
          <a:prstGeom prst="rect">
            <a:avLst/>
          </a:prstGeom>
          <a:noFill/>
          <a:ln/>
        </p:spPr>
        <p:txBody>
          <a:bodyPr wrap="square" lIns="0" tIns="0" rIns="0" bIns="0" rtlCol="0" anchor="ctr"/>
          <a:lstStyle/>
          <a:p>
            <a:pPr marL="0" indent="0">
              <a:buNone/>
            </a:pPr>
            <a:r>
              <a:rPr lang="en-US" sz="2000" b="1" dirty="0">
                <a:solidFill>
                  <a:srgbClr val="C2703E"/>
                </a:solidFill>
                <a:latin typeface="Georgia" pitchFamily="34" charset="0"/>
                <a:ea typeface="Georgia" pitchFamily="34" charset="-122"/>
                <a:cs typeface="Georgia" pitchFamily="34" charset="-120"/>
              </a:rPr>
              <a:t>02</a:t>
            </a:r>
            <a:endParaRPr lang="en-US" sz="2000" dirty="0"/>
          </a:p>
        </p:txBody>
      </p:sp>
      <p:sp>
        <p:nvSpPr>
          <p:cNvPr id="10" name="Text 8"/>
          <p:cNvSpPr/>
          <p:nvPr/>
        </p:nvSpPr>
        <p:spPr>
          <a:xfrm>
            <a:off x="1371600" y="2578608"/>
            <a:ext cx="7040880" cy="274320"/>
          </a:xfrm>
          <a:prstGeom prst="rect">
            <a:avLst/>
          </a:prstGeom>
          <a:noFill/>
          <a:ln/>
        </p:spPr>
        <p:txBody>
          <a:bodyPr wrap="square" lIns="0" tIns="0" rIns="0" bIns="0" rtlCol="0" anchor="ctr"/>
          <a:lstStyle/>
          <a:p>
            <a:pPr marL="0" indent="0">
              <a:buNone/>
            </a:pPr>
            <a:r>
              <a:rPr lang="en-US" sz="1300" b="1" dirty="0">
                <a:solidFill>
                  <a:srgbClr val="2D4A3E"/>
                </a:solidFill>
                <a:latin typeface="Georgia" pitchFamily="34" charset="0"/>
                <a:ea typeface="Georgia" pitchFamily="34" charset="-122"/>
                <a:cs typeface="Georgia" pitchFamily="34" charset="-120"/>
              </a:rPr>
              <a:t>Can review text detect early safety signals?</a:t>
            </a:r>
            <a:endParaRPr lang="en-US" sz="1300" dirty="0"/>
          </a:p>
        </p:txBody>
      </p:sp>
      <p:sp>
        <p:nvSpPr>
          <p:cNvPr id="11" name="Text 9"/>
          <p:cNvSpPr/>
          <p:nvPr/>
        </p:nvSpPr>
        <p:spPr>
          <a:xfrm>
            <a:off x="1371600" y="2880360"/>
            <a:ext cx="7040880" cy="713232"/>
          </a:xfrm>
          <a:prstGeom prst="rect">
            <a:avLst/>
          </a:prstGeom>
          <a:noFill/>
          <a:ln/>
        </p:spPr>
        <p:txBody>
          <a:bodyPr wrap="square" lIns="0" tIns="0" rIns="0" bIns="0" rtlCol="0" anchor="ctr"/>
          <a:lstStyle/>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Yes, and decisively. TF-IDF drove ROC-AUC from 0.76 to 0.9917. Top phrases ('breakouts', 'redness', 'burn') correspond to consumer-reported adverse reactions and are dominant predictors across all three SHAP analyses. In deployment, the model could monitor incoming reviews and flag products for safety review in near-real-time.</a:t>
            </a:r>
            <a:endParaRPr lang="en-US" sz="1100" dirty="0"/>
          </a:p>
        </p:txBody>
      </p:sp>
      <p:sp>
        <p:nvSpPr>
          <p:cNvPr id="12" name="Shape 10"/>
          <p:cNvSpPr/>
          <p:nvPr/>
        </p:nvSpPr>
        <p:spPr>
          <a:xfrm>
            <a:off x="640080" y="3794760"/>
            <a:ext cx="8046720" cy="1143000"/>
          </a:xfrm>
          <a:prstGeom prst="rect">
            <a:avLst/>
          </a:prstGeom>
          <a:solidFill>
            <a:srgbClr val="F7F3ED"/>
          </a:solidFill>
          <a:ln/>
        </p:spPr>
        <p:txBody>
          <a:bodyPr/>
          <a:lstStyle/>
          <a:p>
            <a:endParaRPr lang="en-US"/>
          </a:p>
        </p:txBody>
      </p:sp>
      <p:sp>
        <p:nvSpPr>
          <p:cNvPr id="13" name="Text 11"/>
          <p:cNvSpPr/>
          <p:nvPr/>
        </p:nvSpPr>
        <p:spPr>
          <a:xfrm>
            <a:off x="868680" y="3858768"/>
            <a:ext cx="411480" cy="320040"/>
          </a:xfrm>
          <a:prstGeom prst="rect">
            <a:avLst/>
          </a:prstGeom>
          <a:noFill/>
          <a:ln/>
        </p:spPr>
        <p:txBody>
          <a:bodyPr wrap="square" lIns="0" tIns="0" rIns="0" bIns="0" rtlCol="0" anchor="ctr"/>
          <a:lstStyle/>
          <a:p>
            <a:pPr marL="0" indent="0">
              <a:buNone/>
            </a:pPr>
            <a:r>
              <a:rPr lang="en-US" sz="2000" b="1" dirty="0">
                <a:solidFill>
                  <a:srgbClr val="C2703E"/>
                </a:solidFill>
                <a:latin typeface="Georgia" pitchFamily="34" charset="0"/>
                <a:ea typeface="Georgia" pitchFamily="34" charset="-122"/>
                <a:cs typeface="Georgia" pitchFamily="34" charset="-120"/>
              </a:rPr>
              <a:t>03</a:t>
            </a:r>
            <a:endParaRPr lang="en-US" sz="2000" dirty="0"/>
          </a:p>
        </p:txBody>
      </p:sp>
      <p:sp>
        <p:nvSpPr>
          <p:cNvPr id="14" name="Text 12"/>
          <p:cNvSpPr/>
          <p:nvPr/>
        </p:nvSpPr>
        <p:spPr>
          <a:xfrm>
            <a:off x="1371600" y="3858768"/>
            <a:ext cx="7040880" cy="274320"/>
          </a:xfrm>
          <a:prstGeom prst="rect">
            <a:avLst/>
          </a:prstGeom>
          <a:noFill/>
          <a:ln/>
        </p:spPr>
        <p:txBody>
          <a:bodyPr wrap="square" lIns="0" tIns="0" rIns="0" bIns="0" rtlCol="0" anchor="ctr"/>
          <a:lstStyle/>
          <a:p>
            <a:pPr marL="0" indent="0">
              <a:buNone/>
            </a:pPr>
            <a:r>
              <a:rPr lang="en-US" sz="1300" b="1" dirty="0">
                <a:solidFill>
                  <a:srgbClr val="2D4A3E"/>
                </a:solidFill>
                <a:latin typeface="Georgia" pitchFamily="34" charset="0"/>
                <a:ea typeface="Georgia" pitchFamily="34" charset="-122"/>
                <a:cs typeface="Georgia" pitchFamily="34" charset="-120"/>
              </a:rPr>
              <a:t>Which ingredients are most associated with negative reactions?</a:t>
            </a:r>
            <a:endParaRPr lang="en-US" sz="1300" dirty="0"/>
          </a:p>
        </p:txBody>
      </p:sp>
      <p:sp>
        <p:nvSpPr>
          <p:cNvPr id="15" name="Text 13"/>
          <p:cNvSpPr/>
          <p:nvPr/>
        </p:nvSpPr>
        <p:spPr>
          <a:xfrm>
            <a:off x="1371600" y="4160520"/>
            <a:ext cx="7040880" cy="713232"/>
          </a:xfrm>
          <a:prstGeom prst="rect">
            <a:avLst/>
          </a:prstGeom>
          <a:noFill/>
          <a:ln/>
        </p:spPr>
        <p:txBody>
          <a:bodyPr wrap="square" lIns="0" tIns="0" rIns="0" bIns="0" rtlCol="0" anchor="ctr"/>
          <a:lstStyle/>
          <a:p>
            <a:pPr marL="0" indent="0">
              <a:lnSpc>
                <a:spcPct val="130000"/>
              </a:lnSpc>
              <a:buNone/>
            </a:pPr>
            <a:r>
              <a:rPr lang="en-US" sz="1100" dirty="0">
                <a:solidFill>
                  <a:srgbClr val="1A1A1A"/>
                </a:solidFill>
                <a:latin typeface="Calibri" pitchFamily="34" charset="0"/>
                <a:ea typeface="Calibri" pitchFamily="34" charset="-122"/>
                <a:cs typeface="Calibri" pitchFamily="34" charset="-120"/>
              </a:rPr>
              <a:t>Highest-risk: formaldehyde-releasing preservatives (DMDM hydantoin, quaternium-15), phthalates, fragrances, sulfates, retinol compounds. Co-irritant pairs fragrance × alcohol and alcohol × retinol show elevated rates. Alcohol disrupts the skin barrier, increasing penetration of co-applied irritants — consistent with known dermatological mechanisms.</a:t>
            </a:r>
            <a:endParaRPr lang="en-US" sz="1100" dirty="0"/>
          </a:p>
        </p:txBody>
      </p:sp>
      <p:sp>
        <p:nvSpPr>
          <p:cNvPr id="16" name="Text 14"/>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7A8A80"/>
                </a:solidFill>
                <a:latin typeface="Calibri" pitchFamily="34" charset="0"/>
                <a:ea typeface="Calibri" pitchFamily="34" charset="-122"/>
                <a:cs typeface="Calibri" pitchFamily="34" charset="-120"/>
              </a:rPr>
              <a:t>11</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2D4A3E"/>
          </a:solidFill>
          <a:ln/>
        </p:spPr>
        <p:txBody>
          <a:bodyPr/>
          <a:lstStyle/>
          <a:p>
            <a:endParaRPr lang="en-US"/>
          </a:p>
        </p:txBody>
      </p:sp>
      <p:sp>
        <p:nvSpPr>
          <p:cNvPr id="3" name="Text 1"/>
          <p:cNvSpPr/>
          <p:nvPr/>
        </p:nvSpPr>
        <p:spPr>
          <a:xfrm>
            <a:off x="411480" y="457200"/>
            <a:ext cx="2286000" cy="1463040"/>
          </a:xfrm>
          <a:prstGeom prst="rect">
            <a:avLst/>
          </a:prstGeom>
          <a:noFill/>
          <a:ln/>
        </p:spPr>
        <p:txBody>
          <a:bodyPr wrap="square" lIns="0" tIns="0" rIns="0" bIns="0" rtlCol="0" anchor="ctr"/>
          <a:lstStyle/>
          <a:p>
            <a:pPr marL="0" indent="0">
              <a:lnSpc>
                <a:spcPct val="105000"/>
              </a:lnSpc>
              <a:buNone/>
            </a:pPr>
            <a:r>
              <a:rPr lang="en-US" sz="2600" dirty="0">
                <a:solidFill>
                  <a:srgbClr val="F7F3ED"/>
                </a:solidFill>
                <a:latin typeface="Georgia" pitchFamily="34" charset="0"/>
                <a:ea typeface="Georgia" pitchFamily="34" charset="-122"/>
                <a:cs typeface="Georgia" pitchFamily="34" charset="-120"/>
              </a:rPr>
              <a:t>Conclusions</a:t>
            </a:r>
            <a:endParaRPr lang="en-US" sz="2600" dirty="0"/>
          </a:p>
          <a:p>
            <a:pPr marL="0" indent="0">
              <a:lnSpc>
                <a:spcPct val="105000"/>
              </a:lnSpc>
              <a:buNone/>
            </a:pPr>
            <a:r>
              <a:rPr lang="en-US" sz="2600" dirty="0">
                <a:solidFill>
                  <a:srgbClr val="F7F3ED"/>
                </a:solidFill>
                <a:latin typeface="Georgia" pitchFamily="34" charset="0"/>
                <a:ea typeface="Georgia" pitchFamily="34" charset="-122"/>
                <a:cs typeface="Georgia" pitchFamily="34" charset="-120"/>
              </a:rPr>
              <a:t>&amp; Future</a:t>
            </a:r>
            <a:endParaRPr lang="en-US" sz="2600" dirty="0"/>
          </a:p>
          <a:p>
            <a:pPr marL="0" indent="0">
              <a:lnSpc>
                <a:spcPct val="105000"/>
              </a:lnSpc>
              <a:buNone/>
            </a:pPr>
            <a:r>
              <a:rPr lang="en-US" sz="2600" dirty="0">
                <a:solidFill>
                  <a:srgbClr val="F7F3ED"/>
                </a:solidFill>
                <a:latin typeface="Georgia" pitchFamily="34" charset="0"/>
                <a:ea typeface="Georgia" pitchFamily="34" charset="-122"/>
                <a:cs typeface="Georgia" pitchFamily="34" charset="-120"/>
              </a:rPr>
              <a:t>Work</a:t>
            </a:r>
            <a:endParaRPr lang="en-US" sz="2600" dirty="0"/>
          </a:p>
        </p:txBody>
      </p:sp>
      <p:sp>
        <p:nvSpPr>
          <p:cNvPr id="4" name="Shape 2"/>
          <p:cNvSpPr/>
          <p:nvPr/>
        </p:nvSpPr>
        <p:spPr>
          <a:xfrm>
            <a:off x="411480" y="2011680"/>
            <a:ext cx="457200" cy="36576"/>
          </a:xfrm>
          <a:prstGeom prst="rect">
            <a:avLst/>
          </a:prstGeom>
          <a:solidFill>
            <a:srgbClr val="C2703E"/>
          </a:solidFill>
          <a:ln/>
        </p:spPr>
        <p:txBody>
          <a:bodyPr/>
          <a:lstStyle/>
          <a:p>
            <a:endParaRPr lang="en-US"/>
          </a:p>
        </p:txBody>
      </p:sp>
      <p:sp>
        <p:nvSpPr>
          <p:cNvPr id="5" name="Text 3"/>
          <p:cNvSpPr/>
          <p:nvPr/>
        </p:nvSpPr>
        <p:spPr>
          <a:xfrm>
            <a:off x="411480" y="2286000"/>
            <a:ext cx="2286000" cy="182880"/>
          </a:xfrm>
          <a:prstGeom prst="rect">
            <a:avLst/>
          </a:prstGeom>
          <a:noFill/>
          <a:ln/>
        </p:spPr>
        <p:txBody>
          <a:bodyPr wrap="square" lIns="0" tIns="0" rIns="0" bIns="0" rtlCol="0" anchor="ctr"/>
          <a:lstStyle/>
          <a:p>
            <a:pPr marL="0" indent="0">
              <a:buNone/>
            </a:pPr>
            <a:r>
              <a:rPr lang="en-US" sz="1000" kern="0" spc="200" dirty="0">
                <a:solidFill>
                  <a:srgbClr val="7A8A80"/>
                </a:solidFill>
                <a:latin typeface="Calibri" pitchFamily="34" charset="0"/>
                <a:ea typeface="Calibri" pitchFamily="34" charset="-122"/>
                <a:cs typeface="Calibri" pitchFamily="34" charset="-120"/>
              </a:rPr>
              <a:t>LIMITATIONS</a:t>
            </a:r>
            <a:endParaRPr lang="en-US" sz="1000" dirty="0"/>
          </a:p>
        </p:txBody>
      </p:sp>
      <p:sp>
        <p:nvSpPr>
          <p:cNvPr id="6" name="Text 4"/>
          <p:cNvSpPr/>
          <p:nvPr/>
        </p:nvSpPr>
        <p:spPr>
          <a:xfrm>
            <a:off x="411480" y="2514600"/>
            <a:ext cx="2286000" cy="365760"/>
          </a:xfrm>
          <a:prstGeom prst="rect">
            <a:avLst/>
          </a:prstGeom>
          <a:noFill/>
          <a:ln/>
        </p:spPr>
        <p:txBody>
          <a:bodyPr wrap="square" lIns="0" tIns="0" rIns="0" bIns="0" rtlCol="0" anchor="ctr"/>
          <a:lstStyle/>
          <a:p>
            <a:pPr marL="0" indent="0">
              <a:lnSpc>
                <a:spcPct val="130000"/>
              </a:lnSpc>
              <a:buNone/>
            </a:pPr>
            <a:r>
              <a:rPr lang="en-US" sz="1100" dirty="0">
                <a:solidFill>
                  <a:srgbClr val="B8C9BC"/>
                </a:solidFill>
                <a:latin typeface="Calibri" pitchFamily="34" charset="0"/>
                <a:ea typeface="Calibri" pitchFamily="34" charset="-122"/>
                <a:cs typeface="Calibri" pitchFamily="34" charset="-120"/>
              </a:rPr>
              <a:t>•  Keyword target may miss subtle adverse reactions</a:t>
            </a:r>
            <a:endParaRPr lang="en-US" sz="1100" dirty="0"/>
          </a:p>
        </p:txBody>
      </p:sp>
      <p:sp>
        <p:nvSpPr>
          <p:cNvPr id="7" name="Text 5"/>
          <p:cNvSpPr/>
          <p:nvPr/>
        </p:nvSpPr>
        <p:spPr>
          <a:xfrm>
            <a:off x="411480" y="2926080"/>
            <a:ext cx="2286000" cy="365760"/>
          </a:xfrm>
          <a:prstGeom prst="rect">
            <a:avLst/>
          </a:prstGeom>
          <a:noFill/>
          <a:ln/>
        </p:spPr>
        <p:txBody>
          <a:bodyPr wrap="square" lIns="0" tIns="0" rIns="0" bIns="0" rtlCol="0" anchor="ctr"/>
          <a:lstStyle/>
          <a:p>
            <a:pPr marL="0" indent="0">
              <a:lnSpc>
                <a:spcPct val="130000"/>
              </a:lnSpc>
              <a:buNone/>
            </a:pPr>
            <a:r>
              <a:rPr lang="en-US" sz="1100" dirty="0">
                <a:solidFill>
                  <a:srgbClr val="B8C9BC"/>
                </a:solidFill>
                <a:latin typeface="Calibri" pitchFamily="34" charset="0"/>
                <a:ea typeface="Calibri" pitchFamily="34" charset="-122"/>
                <a:cs typeface="Calibri" pitchFamily="34" charset="-120"/>
              </a:rPr>
              <a:t>•  INCI matching is approximate; fuzzy matching would help</a:t>
            </a:r>
            <a:endParaRPr lang="en-US" sz="1100" dirty="0"/>
          </a:p>
        </p:txBody>
      </p:sp>
      <p:sp>
        <p:nvSpPr>
          <p:cNvPr id="8" name="Text 6"/>
          <p:cNvSpPr/>
          <p:nvPr/>
        </p:nvSpPr>
        <p:spPr>
          <a:xfrm>
            <a:off x="411480" y="3337560"/>
            <a:ext cx="2286000" cy="365760"/>
          </a:xfrm>
          <a:prstGeom prst="rect">
            <a:avLst/>
          </a:prstGeom>
          <a:noFill/>
          <a:ln/>
        </p:spPr>
        <p:txBody>
          <a:bodyPr wrap="square" lIns="0" tIns="0" rIns="0" bIns="0" rtlCol="0" anchor="ctr"/>
          <a:lstStyle/>
          <a:p>
            <a:pPr marL="0" indent="0">
              <a:lnSpc>
                <a:spcPct val="130000"/>
              </a:lnSpc>
              <a:buNone/>
            </a:pPr>
            <a:r>
              <a:rPr lang="en-US" sz="1100" dirty="0">
                <a:solidFill>
                  <a:srgbClr val="B8C9BC"/>
                </a:solidFill>
                <a:latin typeface="Calibri" pitchFamily="34" charset="0"/>
                <a:ea typeface="Calibri" pitchFamily="34" charset="-122"/>
                <a:cs typeface="Calibri" pitchFamily="34" charset="-120"/>
              </a:rPr>
              <a:t>•  Skin-type-specific models could personalize further</a:t>
            </a:r>
            <a:endParaRPr lang="en-US" sz="1100" dirty="0"/>
          </a:p>
        </p:txBody>
      </p:sp>
      <p:sp>
        <p:nvSpPr>
          <p:cNvPr id="9" name="Text 7"/>
          <p:cNvSpPr/>
          <p:nvPr/>
        </p:nvSpPr>
        <p:spPr>
          <a:xfrm>
            <a:off x="411480" y="3749040"/>
            <a:ext cx="2286000" cy="365760"/>
          </a:xfrm>
          <a:prstGeom prst="rect">
            <a:avLst/>
          </a:prstGeom>
          <a:noFill/>
          <a:ln/>
        </p:spPr>
        <p:txBody>
          <a:bodyPr wrap="square" lIns="0" tIns="0" rIns="0" bIns="0" rtlCol="0" anchor="ctr"/>
          <a:lstStyle/>
          <a:p>
            <a:pPr marL="0" indent="0">
              <a:lnSpc>
                <a:spcPct val="130000"/>
              </a:lnSpc>
              <a:buNone/>
            </a:pPr>
            <a:r>
              <a:rPr lang="en-US" sz="1100" dirty="0">
                <a:solidFill>
                  <a:srgbClr val="B8C9BC"/>
                </a:solidFill>
                <a:latin typeface="Calibri" pitchFamily="34" charset="0"/>
                <a:ea typeface="Calibri" pitchFamily="34" charset="-122"/>
                <a:cs typeface="Calibri" pitchFamily="34" charset="-120"/>
              </a:rPr>
              <a:t>•  Transformers (BERT) could extract richer semantics</a:t>
            </a:r>
            <a:endParaRPr lang="en-US" sz="1100" dirty="0"/>
          </a:p>
        </p:txBody>
      </p:sp>
      <p:pic>
        <p:nvPicPr>
          <p:cNvPr id="10" name="Image 0" descr="preencoded.png"/>
          <p:cNvPicPr>
            <a:picLocks noChangeAspect="1"/>
          </p:cNvPicPr>
          <p:nvPr/>
        </p:nvPicPr>
        <p:blipFill>
          <a:blip r:embed="rId3"/>
          <a:stretch>
            <a:fillRect/>
          </a:stretch>
        </p:blipFill>
        <p:spPr>
          <a:xfrm>
            <a:off x="411480" y="4434840"/>
            <a:ext cx="274320" cy="274320"/>
          </a:xfrm>
          <a:prstGeom prst="rect">
            <a:avLst/>
          </a:prstGeom>
        </p:spPr>
      </p:pic>
      <p:sp>
        <p:nvSpPr>
          <p:cNvPr id="11" name="Text 8"/>
          <p:cNvSpPr/>
          <p:nvPr/>
        </p:nvSpPr>
        <p:spPr>
          <a:xfrm>
            <a:off x="777240" y="4462272"/>
            <a:ext cx="1828800" cy="228600"/>
          </a:xfrm>
          <a:prstGeom prst="rect">
            <a:avLst/>
          </a:prstGeom>
          <a:noFill/>
          <a:ln/>
        </p:spPr>
        <p:txBody>
          <a:bodyPr wrap="square" lIns="0" tIns="0" rIns="0" bIns="0" rtlCol="0" anchor="ctr"/>
          <a:lstStyle/>
          <a:p>
            <a:pPr marL="0" indent="0">
              <a:buNone/>
            </a:pPr>
            <a:r>
              <a:rPr lang="en-US" sz="900" dirty="0">
                <a:solidFill>
                  <a:srgbClr val="B8C9BC"/>
                </a:solidFill>
                <a:latin typeface="Calibri" pitchFamily="34" charset="0"/>
                <a:ea typeface="Calibri" pitchFamily="34" charset="-122"/>
                <a:cs typeface="Calibri" pitchFamily="34" charset="-120"/>
              </a:rPr>
              <a:t>Team 4  ·  MISM 6212  ·  Spring 2026</a:t>
            </a:r>
            <a:endParaRPr lang="en-US" sz="900" dirty="0"/>
          </a:p>
        </p:txBody>
      </p:sp>
      <p:sp>
        <p:nvSpPr>
          <p:cNvPr id="12" name="Text 9"/>
          <p:cNvSpPr/>
          <p:nvPr/>
        </p:nvSpPr>
        <p:spPr>
          <a:xfrm>
            <a:off x="3291840" y="320040"/>
            <a:ext cx="502920" cy="365760"/>
          </a:xfrm>
          <a:prstGeom prst="rect">
            <a:avLst/>
          </a:prstGeom>
          <a:noFill/>
          <a:ln/>
        </p:spPr>
        <p:txBody>
          <a:bodyPr wrap="square" lIns="0" tIns="0" rIns="0" bIns="0" rtlCol="0" anchor="ctr"/>
          <a:lstStyle/>
          <a:p>
            <a:pPr marL="0" indent="0">
              <a:buNone/>
            </a:pPr>
            <a:r>
              <a:rPr lang="en-US" sz="2200" b="1" dirty="0">
                <a:solidFill>
                  <a:srgbClr val="C2703E"/>
                </a:solidFill>
                <a:latin typeface="Georgia" pitchFamily="34" charset="0"/>
                <a:ea typeface="Georgia" pitchFamily="34" charset="-122"/>
                <a:cs typeface="Georgia" pitchFamily="34" charset="-120"/>
              </a:rPr>
              <a:t>01</a:t>
            </a:r>
            <a:endParaRPr lang="en-US" sz="2200" dirty="0"/>
          </a:p>
        </p:txBody>
      </p:sp>
      <p:sp>
        <p:nvSpPr>
          <p:cNvPr id="13" name="Text 10"/>
          <p:cNvSpPr/>
          <p:nvPr/>
        </p:nvSpPr>
        <p:spPr>
          <a:xfrm>
            <a:off x="3840480" y="320040"/>
            <a:ext cx="4937760" cy="685800"/>
          </a:xfrm>
          <a:prstGeom prst="rect">
            <a:avLst/>
          </a:prstGeom>
          <a:noFill/>
          <a:ln/>
        </p:spPr>
        <p:txBody>
          <a:bodyPr wrap="square" lIns="0" tIns="0" rIns="0" bIns="0" rtlCol="0" anchor="ctr"/>
          <a:lstStyle/>
          <a:p>
            <a:pPr marL="0" indent="0">
              <a:lnSpc>
                <a:spcPct val="140000"/>
              </a:lnSpc>
              <a:buNone/>
            </a:pPr>
            <a:r>
              <a:rPr lang="en-US" sz="1200" dirty="0">
                <a:solidFill>
                  <a:srgbClr val="B8C9BC"/>
                </a:solidFill>
                <a:latin typeface="Calibri" pitchFamily="34" charset="0"/>
                <a:ea typeface="Calibri" pitchFamily="34" charset="-122"/>
                <a:cs typeface="Calibri" pitchFamily="34" charset="-120"/>
              </a:rPr>
              <a:t>Review text features are the strongest individual predictors. Enhanced structural features reached AUC 0.76; adding TF-IDF pushed it to 0.9917.</a:t>
            </a:r>
            <a:endParaRPr lang="en-US" sz="1200" dirty="0"/>
          </a:p>
        </p:txBody>
      </p:sp>
      <p:sp>
        <p:nvSpPr>
          <p:cNvPr id="14" name="Shape 11"/>
          <p:cNvSpPr/>
          <p:nvPr/>
        </p:nvSpPr>
        <p:spPr>
          <a:xfrm>
            <a:off x="3291840" y="1097280"/>
            <a:ext cx="5440680" cy="4572"/>
          </a:xfrm>
          <a:prstGeom prst="rect">
            <a:avLst/>
          </a:prstGeom>
          <a:solidFill>
            <a:srgbClr val="333333"/>
          </a:solidFill>
          <a:ln/>
        </p:spPr>
        <p:txBody>
          <a:bodyPr/>
          <a:lstStyle/>
          <a:p>
            <a:endParaRPr lang="en-US"/>
          </a:p>
        </p:txBody>
      </p:sp>
      <p:sp>
        <p:nvSpPr>
          <p:cNvPr id="15" name="Text 12"/>
          <p:cNvSpPr/>
          <p:nvPr/>
        </p:nvSpPr>
        <p:spPr>
          <a:xfrm>
            <a:off x="3291840" y="1234440"/>
            <a:ext cx="502920" cy="365760"/>
          </a:xfrm>
          <a:prstGeom prst="rect">
            <a:avLst/>
          </a:prstGeom>
          <a:noFill/>
          <a:ln/>
        </p:spPr>
        <p:txBody>
          <a:bodyPr wrap="square" lIns="0" tIns="0" rIns="0" bIns="0" rtlCol="0" anchor="ctr"/>
          <a:lstStyle/>
          <a:p>
            <a:pPr marL="0" indent="0">
              <a:buNone/>
            </a:pPr>
            <a:r>
              <a:rPr lang="en-US" sz="2200" b="1" dirty="0">
                <a:solidFill>
                  <a:srgbClr val="C2703E"/>
                </a:solidFill>
                <a:latin typeface="Georgia" pitchFamily="34" charset="0"/>
                <a:ea typeface="Georgia" pitchFamily="34" charset="-122"/>
                <a:cs typeface="Georgia" pitchFamily="34" charset="-120"/>
              </a:rPr>
              <a:t>02</a:t>
            </a:r>
            <a:endParaRPr lang="en-US" sz="2200" dirty="0"/>
          </a:p>
        </p:txBody>
      </p:sp>
      <p:sp>
        <p:nvSpPr>
          <p:cNvPr id="16" name="Text 13"/>
          <p:cNvSpPr/>
          <p:nvPr/>
        </p:nvSpPr>
        <p:spPr>
          <a:xfrm>
            <a:off x="3840480" y="1234440"/>
            <a:ext cx="4937760" cy="685800"/>
          </a:xfrm>
          <a:prstGeom prst="rect">
            <a:avLst/>
          </a:prstGeom>
          <a:noFill/>
          <a:ln/>
        </p:spPr>
        <p:txBody>
          <a:bodyPr wrap="square" lIns="0" tIns="0" rIns="0" bIns="0" rtlCol="0" anchor="ctr"/>
          <a:lstStyle/>
          <a:p>
            <a:pPr marL="0" indent="0">
              <a:lnSpc>
                <a:spcPct val="140000"/>
              </a:lnSpc>
              <a:buNone/>
            </a:pPr>
            <a:r>
              <a:rPr lang="en-US" sz="1200" dirty="0">
                <a:solidFill>
                  <a:srgbClr val="B8C9BC"/>
                </a:solidFill>
                <a:latin typeface="Calibri" pitchFamily="34" charset="0"/>
                <a:ea typeface="Calibri" pitchFamily="34" charset="-122"/>
                <a:cs typeface="Calibri" pitchFamily="34" charset="-120"/>
              </a:rPr>
              <a:t>Ingredient features carry genuine signal when combined with text. SHAP confirms approximately equal contribution from both feature types.</a:t>
            </a:r>
            <a:endParaRPr lang="en-US" sz="1200" dirty="0"/>
          </a:p>
        </p:txBody>
      </p:sp>
      <p:sp>
        <p:nvSpPr>
          <p:cNvPr id="17" name="Shape 14"/>
          <p:cNvSpPr/>
          <p:nvPr/>
        </p:nvSpPr>
        <p:spPr>
          <a:xfrm>
            <a:off x="3291840" y="2011680"/>
            <a:ext cx="5440680" cy="4572"/>
          </a:xfrm>
          <a:prstGeom prst="rect">
            <a:avLst/>
          </a:prstGeom>
          <a:solidFill>
            <a:srgbClr val="333333"/>
          </a:solidFill>
          <a:ln/>
        </p:spPr>
        <p:txBody>
          <a:bodyPr/>
          <a:lstStyle/>
          <a:p>
            <a:endParaRPr lang="en-US"/>
          </a:p>
        </p:txBody>
      </p:sp>
      <p:sp>
        <p:nvSpPr>
          <p:cNvPr id="18" name="Text 15"/>
          <p:cNvSpPr/>
          <p:nvPr/>
        </p:nvSpPr>
        <p:spPr>
          <a:xfrm>
            <a:off x="3291840" y="2148840"/>
            <a:ext cx="502920" cy="365760"/>
          </a:xfrm>
          <a:prstGeom prst="rect">
            <a:avLst/>
          </a:prstGeom>
          <a:noFill/>
          <a:ln/>
        </p:spPr>
        <p:txBody>
          <a:bodyPr wrap="square" lIns="0" tIns="0" rIns="0" bIns="0" rtlCol="0" anchor="ctr"/>
          <a:lstStyle/>
          <a:p>
            <a:pPr marL="0" indent="0">
              <a:buNone/>
            </a:pPr>
            <a:r>
              <a:rPr lang="en-US" sz="2200" b="1" dirty="0">
                <a:solidFill>
                  <a:srgbClr val="C2703E"/>
                </a:solidFill>
                <a:latin typeface="Georgia" pitchFamily="34" charset="0"/>
                <a:ea typeface="Georgia" pitchFamily="34" charset="-122"/>
                <a:cs typeface="Georgia" pitchFamily="34" charset="-120"/>
              </a:rPr>
              <a:t>03</a:t>
            </a:r>
            <a:endParaRPr lang="en-US" sz="2200" dirty="0"/>
          </a:p>
        </p:txBody>
      </p:sp>
      <p:sp>
        <p:nvSpPr>
          <p:cNvPr id="19" name="Text 16"/>
          <p:cNvSpPr/>
          <p:nvPr/>
        </p:nvSpPr>
        <p:spPr>
          <a:xfrm>
            <a:off x="3840480" y="2148840"/>
            <a:ext cx="4937760" cy="685800"/>
          </a:xfrm>
          <a:prstGeom prst="rect">
            <a:avLst/>
          </a:prstGeom>
          <a:noFill/>
          <a:ln/>
        </p:spPr>
        <p:txBody>
          <a:bodyPr wrap="square" lIns="0" tIns="0" rIns="0" bIns="0" rtlCol="0" anchor="ctr"/>
          <a:lstStyle/>
          <a:p>
            <a:pPr marL="0" indent="0">
              <a:lnSpc>
                <a:spcPct val="140000"/>
              </a:lnSpc>
              <a:buNone/>
            </a:pPr>
            <a:r>
              <a:rPr lang="en-US" sz="1200" dirty="0">
                <a:solidFill>
                  <a:srgbClr val="B8C9BC"/>
                </a:solidFill>
                <a:latin typeface="Calibri" pitchFamily="34" charset="0"/>
                <a:ea typeface="Calibri" pitchFamily="34" charset="-122"/>
                <a:cs typeface="Calibri" pitchFamily="34" charset="-120"/>
              </a:rPr>
              <a:t>Highest-risk ingredients: formaldehyde releasers, phthalates, fragrances, sulfates. Co-irritant pairs: fragrance × alcohol, alcohol × retinol.</a:t>
            </a:r>
            <a:endParaRPr lang="en-US" sz="1200" dirty="0"/>
          </a:p>
        </p:txBody>
      </p:sp>
      <p:sp>
        <p:nvSpPr>
          <p:cNvPr id="20" name="Shape 17"/>
          <p:cNvSpPr/>
          <p:nvPr/>
        </p:nvSpPr>
        <p:spPr>
          <a:xfrm>
            <a:off x="3291840" y="2926080"/>
            <a:ext cx="5440680" cy="4572"/>
          </a:xfrm>
          <a:prstGeom prst="rect">
            <a:avLst/>
          </a:prstGeom>
          <a:solidFill>
            <a:srgbClr val="333333"/>
          </a:solidFill>
          <a:ln/>
        </p:spPr>
        <p:txBody>
          <a:bodyPr/>
          <a:lstStyle/>
          <a:p>
            <a:endParaRPr lang="en-US"/>
          </a:p>
        </p:txBody>
      </p:sp>
      <p:sp>
        <p:nvSpPr>
          <p:cNvPr id="21" name="Text 18"/>
          <p:cNvSpPr/>
          <p:nvPr/>
        </p:nvSpPr>
        <p:spPr>
          <a:xfrm>
            <a:off x="3291840" y="3063240"/>
            <a:ext cx="502920" cy="365760"/>
          </a:xfrm>
          <a:prstGeom prst="rect">
            <a:avLst/>
          </a:prstGeom>
          <a:noFill/>
          <a:ln/>
        </p:spPr>
        <p:txBody>
          <a:bodyPr wrap="square" lIns="0" tIns="0" rIns="0" bIns="0" rtlCol="0" anchor="ctr"/>
          <a:lstStyle/>
          <a:p>
            <a:pPr marL="0" indent="0">
              <a:buNone/>
            </a:pPr>
            <a:r>
              <a:rPr lang="en-US" sz="2200" b="1" dirty="0">
                <a:solidFill>
                  <a:srgbClr val="C2703E"/>
                </a:solidFill>
                <a:latin typeface="Georgia" pitchFamily="34" charset="0"/>
                <a:ea typeface="Georgia" pitchFamily="34" charset="-122"/>
                <a:cs typeface="Georgia" pitchFamily="34" charset="-120"/>
              </a:rPr>
              <a:t>04</a:t>
            </a:r>
            <a:endParaRPr lang="en-US" sz="2200" dirty="0"/>
          </a:p>
        </p:txBody>
      </p:sp>
      <p:sp>
        <p:nvSpPr>
          <p:cNvPr id="22" name="Text 19"/>
          <p:cNvSpPr/>
          <p:nvPr/>
        </p:nvSpPr>
        <p:spPr>
          <a:xfrm>
            <a:off x="3840480" y="3063240"/>
            <a:ext cx="4937760" cy="685800"/>
          </a:xfrm>
          <a:prstGeom prst="rect">
            <a:avLst/>
          </a:prstGeom>
          <a:noFill/>
          <a:ln/>
        </p:spPr>
        <p:txBody>
          <a:bodyPr wrap="square" lIns="0" tIns="0" rIns="0" bIns="0" rtlCol="0" anchor="ctr"/>
          <a:lstStyle/>
          <a:p>
            <a:pPr marL="0" indent="0">
              <a:lnSpc>
                <a:spcPct val="140000"/>
              </a:lnSpc>
              <a:buNone/>
            </a:pPr>
            <a:r>
              <a:rPr lang="en-US" sz="1200" dirty="0">
                <a:solidFill>
                  <a:srgbClr val="B8C9BC"/>
                </a:solidFill>
                <a:latin typeface="Calibri" pitchFamily="34" charset="0"/>
                <a:ea typeface="Calibri" pitchFamily="34" charset="-122"/>
                <a:cs typeface="Calibri" pitchFamily="34" charset="-120"/>
              </a:rPr>
              <a:t>All 6 models achieved ROC-AUC &gt; 0.985. 5-fold cross-validation confirmed stability with std &lt; 0.002 for AUC.</a:t>
            </a:r>
            <a:endParaRPr lang="en-US" sz="1200" dirty="0"/>
          </a:p>
        </p:txBody>
      </p:sp>
      <p:sp>
        <p:nvSpPr>
          <p:cNvPr id="23" name="Shape 20"/>
          <p:cNvSpPr/>
          <p:nvPr/>
        </p:nvSpPr>
        <p:spPr>
          <a:xfrm>
            <a:off x="3291840" y="3840480"/>
            <a:ext cx="5440680" cy="4572"/>
          </a:xfrm>
          <a:prstGeom prst="rect">
            <a:avLst/>
          </a:prstGeom>
          <a:solidFill>
            <a:srgbClr val="333333"/>
          </a:solidFill>
          <a:ln/>
        </p:spPr>
        <p:txBody>
          <a:bodyPr/>
          <a:lstStyle/>
          <a:p>
            <a:endParaRPr lang="en-US"/>
          </a:p>
        </p:txBody>
      </p:sp>
      <p:sp>
        <p:nvSpPr>
          <p:cNvPr id="24" name="Text 21"/>
          <p:cNvSpPr/>
          <p:nvPr/>
        </p:nvSpPr>
        <p:spPr>
          <a:xfrm>
            <a:off x="3291840" y="3977640"/>
            <a:ext cx="502920" cy="365760"/>
          </a:xfrm>
          <a:prstGeom prst="rect">
            <a:avLst/>
          </a:prstGeom>
          <a:noFill/>
          <a:ln/>
        </p:spPr>
        <p:txBody>
          <a:bodyPr wrap="square" lIns="0" tIns="0" rIns="0" bIns="0" rtlCol="0" anchor="ctr"/>
          <a:lstStyle/>
          <a:p>
            <a:pPr marL="0" indent="0">
              <a:buNone/>
            </a:pPr>
            <a:r>
              <a:rPr lang="en-US" sz="2200" b="1" dirty="0">
                <a:solidFill>
                  <a:srgbClr val="C2703E"/>
                </a:solidFill>
                <a:latin typeface="Georgia" pitchFamily="34" charset="0"/>
                <a:ea typeface="Georgia" pitchFamily="34" charset="-122"/>
                <a:cs typeface="Georgia" pitchFamily="34" charset="-120"/>
              </a:rPr>
              <a:t>05</a:t>
            </a:r>
            <a:endParaRPr lang="en-US" sz="2200" dirty="0"/>
          </a:p>
        </p:txBody>
      </p:sp>
      <p:sp>
        <p:nvSpPr>
          <p:cNvPr id="25" name="Text 22"/>
          <p:cNvSpPr/>
          <p:nvPr/>
        </p:nvSpPr>
        <p:spPr>
          <a:xfrm>
            <a:off x="3840480" y="3977640"/>
            <a:ext cx="4937760" cy="685800"/>
          </a:xfrm>
          <a:prstGeom prst="rect">
            <a:avLst/>
          </a:prstGeom>
          <a:noFill/>
          <a:ln/>
        </p:spPr>
        <p:txBody>
          <a:bodyPr wrap="square" lIns="0" tIns="0" rIns="0" bIns="0" rtlCol="0" anchor="ctr"/>
          <a:lstStyle/>
          <a:p>
            <a:pPr marL="0" indent="0">
              <a:lnSpc>
                <a:spcPct val="140000"/>
              </a:lnSpc>
              <a:buNone/>
            </a:pPr>
            <a:r>
              <a:rPr lang="en-US" sz="1200" dirty="0">
                <a:solidFill>
                  <a:srgbClr val="B8C9BC"/>
                </a:solidFill>
                <a:latin typeface="Calibri" pitchFamily="34" charset="0"/>
                <a:ea typeface="Calibri" pitchFamily="34" charset="-122"/>
                <a:cs typeface="Calibri" pitchFamily="34" charset="-120"/>
              </a:rPr>
              <a:t>The Streamlit dashboard translates predictions into personalized, skin-type-specific recommendations with transparent scoring.</a:t>
            </a:r>
            <a:br>
              <a:rPr lang="en-US" sz="1200" dirty="0">
                <a:solidFill>
                  <a:srgbClr val="B8C9BC"/>
                </a:solidFill>
                <a:latin typeface="Calibri" pitchFamily="34" charset="0"/>
                <a:ea typeface="Calibri" pitchFamily="34" charset="-122"/>
                <a:cs typeface="Calibri" pitchFamily="34" charset="-120"/>
              </a:rPr>
            </a:br>
            <a:r>
              <a:rPr lang="en-US" sz="1200" dirty="0">
                <a:solidFill>
                  <a:srgbClr val="B8C9BC"/>
                </a:solidFill>
                <a:latin typeface="Calibri" pitchFamily="34" charset="0"/>
                <a:ea typeface="Calibri" pitchFamily="34" charset="-122"/>
                <a:cs typeface="Calibri" pitchFamily="34" charset="-120"/>
              </a:rPr>
              <a:t>Dashboard : </a:t>
            </a:r>
            <a:r>
              <a:rPr lang="en-US" sz="1200" dirty="0">
                <a:solidFill>
                  <a:srgbClr val="B8C9BC"/>
                </a:solidFill>
                <a:latin typeface="Calibri" pitchFamily="34" charset="0"/>
                <a:ea typeface="Calibri" pitchFamily="34" charset="-122"/>
                <a:cs typeface="Calibri" pitchFamily="34" charset="-120"/>
                <a:hlinkClick r:id="rId4"/>
              </a:rPr>
              <a:t>Skincare Allergy Dashboard</a:t>
            </a:r>
            <a:endParaRPr lang="en-US" sz="1200" dirty="0"/>
          </a:p>
        </p:txBody>
      </p:sp>
      <p:sp>
        <p:nvSpPr>
          <p:cNvPr id="26" name="Text 23"/>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B8C9BC"/>
                </a:solidFill>
                <a:latin typeface="Calibri" pitchFamily="34" charset="0"/>
                <a:ea typeface="Calibri" pitchFamily="34" charset="-122"/>
                <a:cs typeface="Calibri" pitchFamily="34" charset="-120"/>
              </a:rPr>
              <a:t>12</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859</TotalTime>
  <Words>2819</Words>
  <Application>Microsoft Macintosh PowerPoint</Application>
  <PresentationFormat>On-screen Show (16:9)</PresentationFormat>
  <Paragraphs>302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Skincare Product Safety Prediction &amp; Recommendation Engine</dc:title>
  <dc:subject>PptxGenJS Presentation</dc:subject>
  <dc:creator>Team 4</dc:creator>
  <cp:lastModifiedBy>Sakshi Milind Patil</cp:lastModifiedBy>
  <cp:revision>9</cp:revision>
  <dcterms:created xsi:type="dcterms:W3CDTF">2026-04-16T04:05:39Z</dcterms:created>
  <dcterms:modified xsi:type="dcterms:W3CDTF">2026-04-16T18:27:30Z</dcterms:modified>
</cp:coreProperties>
</file>